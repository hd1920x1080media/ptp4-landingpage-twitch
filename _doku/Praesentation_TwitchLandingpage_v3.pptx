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DFF"/>
    <a:srgbClr val="1F163A"/>
    <a:srgbClr val="140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7D73-550F-4791-BACB-97561F3B97F3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9EA95-CB25-40C2-BA4C-4CC8F65AE9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64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9EA95-CB25-40C2-BA4C-4CC8F65AE94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908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hd1920x1080.de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9905627-FA50-4359-9F60-BC7451BEDC01}"/>
              </a:ext>
            </a:extLst>
          </p:cNvPr>
          <p:cNvGrpSpPr/>
          <p:nvPr/>
        </p:nvGrpSpPr>
        <p:grpSpPr>
          <a:xfrm>
            <a:off x="7315200" y="-1828800"/>
            <a:ext cx="7772400" cy="7772400"/>
            <a:chOff x="7315200" y="-1828800"/>
            <a:chExt cx="7772400" cy="7772400"/>
          </a:xfrm>
        </p:grpSpPr>
        <p:sp>
          <p:nvSpPr>
            <p:cNvPr id="3" name="Oval 2"/>
            <p:cNvSpPr/>
            <p:nvPr/>
          </p:nvSpPr>
          <p:spPr>
            <a:xfrm>
              <a:off x="7315200" y="-1828800"/>
              <a:ext cx="7772400" cy="7772400"/>
            </a:xfrm>
            <a:prstGeom prst="ellipse">
              <a:avLst/>
            </a:prstGeom>
            <a:solidFill>
              <a:srgbClr val="9D4E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Oval 3"/>
            <p:cNvSpPr/>
            <p:nvPr/>
          </p:nvSpPr>
          <p:spPr>
            <a:xfrm>
              <a:off x="8686800" y="-914400"/>
              <a:ext cx="6400800" cy="6400800"/>
            </a:xfrm>
            <a:prstGeom prst="ellipse">
              <a:avLst/>
            </a:prstGeom>
            <a:solidFill>
              <a:srgbClr val="140E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Oval 4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660719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LIVE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 err="1">
                <a:solidFill>
                  <a:srgbClr val="FFFFFF"/>
                </a:solidFill>
                <a:latin typeface="Calibri"/>
              </a:rPr>
              <a:t>Konfigurierbare</a:t>
            </a:r>
            <a:r>
              <a:rPr sz="4800" b="1" i="0" dirty="0">
                <a:solidFill>
                  <a:srgbClr val="FFFFFF"/>
                </a:solidFill>
                <a:latin typeface="Calibri"/>
              </a:rPr>
              <a:t>
Streaming-</a:t>
            </a:r>
            <a:r>
              <a:rPr sz="4800" b="1" i="0" dirty="0" err="1">
                <a:solidFill>
                  <a:srgbClr val="FFFFFF"/>
                </a:solidFill>
                <a:latin typeface="Calibri"/>
              </a:rPr>
              <a:t>Landingpage</a:t>
            </a:r>
            <a:endParaRPr sz="4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C77DFF"/>
                </a:solidFill>
                <a:latin typeface="Calibri"/>
              </a:rPr>
              <a:t>Ein modularer Baukasten mit Community-Integration.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6A8D3"/>
                </a:solidFill>
                <a:latin typeface="Calibri"/>
              </a:rPr>
              <a:t>Robin Wagner  ·  Transfer-Projekt  ·  Prof. Dr. Mauer  ·  RH Köln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035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B6A8D3"/>
                </a:solidFill>
                <a:latin typeface="Calibri"/>
              </a:rPr>
              <a:t>Sommersemester 2026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CEDD5F35-2163-44A2-A174-D07A6F067E20}"/>
              </a:ext>
            </a:extLst>
          </p:cNvPr>
          <p:cNvSpPr/>
          <p:nvPr/>
        </p:nvSpPr>
        <p:spPr>
          <a:xfrm>
            <a:off x="-11132820" y="246888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476765D3-A6BB-4438-9DD1-02AE0B99E493}"/>
              </a:ext>
            </a:extLst>
          </p:cNvPr>
          <p:cNvSpPr/>
          <p:nvPr/>
        </p:nvSpPr>
        <p:spPr>
          <a:xfrm>
            <a:off x="-11132820" y="342900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403A9588-F9B9-4F51-BECE-E630D3593D8C}"/>
              </a:ext>
            </a:extLst>
          </p:cNvPr>
          <p:cNvSpPr/>
          <p:nvPr/>
        </p:nvSpPr>
        <p:spPr>
          <a:xfrm>
            <a:off x="-11132820" y="438912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1">
            <a:extLst>
              <a:ext uri="{FF2B5EF4-FFF2-40B4-BE49-F238E27FC236}">
                <a16:creationId xmlns:a16="http://schemas.microsoft.com/office/drawing/2014/main" id="{7240DCD3-ED70-421A-95B2-438B449C4DB9}"/>
              </a:ext>
            </a:extLst>
          </p:cNvPr>
          <p:cNvSpPr/>
          <p:nvPr/>
        </p:nvSpPr>
        <p:spPr>
          <a:xfrm>
            <a:off x="-11132820" y="534924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6283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77D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8775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Problem &amp;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Was fehlt — und was der Baukasten anders macht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59359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4787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Tech-Stack &amp; Architektur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86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React, Supabase, Bots, UML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5371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079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Landingpage, Voting, OnlyBart, Mod-Dashboard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1383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6811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Fazit &amp; Ausblick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806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Lessons Learned,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2 / 9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7876F8D-8149-4A75-A471-B1C5494BE397}"/>
              </a:ext>
            </a:extLst>
          </p:cNvPr>
          <p:cNvGrpSpPr/>
          <p:nvPr/>
        </p:nvGrpSpPr>
        <p:grpSpPr>
          <a:xfrm>
            <a:off x="12091035" y="-5960745"/>
            <a:ext cx="7772400" cy="7772400"/>
            <a:chOff x="7315200" y="-1828800"/>
            <a:chExt cx="7772400" cy="7772400"/>
          </a:xfrm>
        </p:grpSpPr>
        <p:sp>
          <p:nvSpPr>
            <p:cNvPr id="30" name="Oval 2">
              <a:extLst>
                <a:ext uri="{FF2B5EF4-FFF2-40B4-BE49-F238E27FC236}">
                  <a16:creationId xmlns:a16="http://schemas.microsoft.com/office/drawing/2014/main" id="{1778DFA8-0C78-4807-929A-166D357E9952}"/>
                </a:ext>
              </a:extLst>
            </p:cNvPr>
            <p:cNvSpPr/>
            <p:nvPr/>
          </p:nvSpPr>
          <p:spPr>
            <a:xfrm>
              <a:off x="7315200" y="-1828800"/>
              <a:ext cx="7772400" cy="7772400"/>
            </a:xfrm>
            <a:prstGeom prst="ellipse">
              <a:avLst/>
            </a:prstGeom>
            <a:solidFill>
              <a:srgbClr val="9D4E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Oval 3">
              <a:extLst>
                <a:ext uri="{FF2B5EF4-FFF2-40B4-BE49-F238E27FC236}">
                  <a16:creationId xmlns:a16="http://schemas.microsoft.com/office/drawing/2014/main" id="{A8C75B3B-F411-4A58-BB5D-BED92781E19D}"/>
                </a:ext>
              </a:extLst>
            </p:cNvPr>
            <p:cNvSpPr/>
            <p:nvPr/>
          </p:nvSpPr>
          <p:spPr>
            <a:xfrm>
              <a:off x="8686800" y="-914400"/>
              <a:ext cx="6400800" cy="6400800"/>
            </a:xfrm>
            <a:prstGeom prst="ellipse">
              <a:avLst/>
            </a:prstGeom>
            <a:solidFill>
              <a:srgbClr val="140E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2043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77DFF"/>
                </a:solidFill>
                <a:latin typeface="Calibri"/>
              </a:rPr>
              <a:t>01  ·  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Calibri"/>
              </a:rPr>
              <a:t>Drei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wiederkehrende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Lücken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77DFF"/>
                </a:solidFill>
                <a:latin typeface="Calibri"/>
              </a:rPr>
              <a:t>Bestehende Linkpages und Stream-Plattformen liefern keine vollständige Lösung.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4973" y="2992918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063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Optik wirkt billig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546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Linktree, Linkme &amp; Co. sehen alle gleich aus — generisches Layout,
keine eigene Marke, keine Designhoheit für den Kanal.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13048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4973" y="4199926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776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Nur gegen Bezahlung schön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36168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Eigenes Theming, eigene Sektionen, mehr als ein paar Links —
das gibt's bei den Anbietern nur in den Premium-Tarifen.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0056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5294376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973" y="5406934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8464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Lock-In, kein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5686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Inhalte hängen in proprietären Plattformen fest. Ein Wechsel
des Anbieters bedeutet faktisch alles neu eintippen.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C77DFF"/>
                </a:solidFill>
                <a:latin typeface="Calibri"/>
              </a:rPr>
              <a:t>Eine wirklich schöne, frei anpassbare und kostenfreie Lösung? — gibt es schlicht nicht.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5147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77DFF"/>
                </a:solidFill>
                <a:latin typeface="Calibri"/>
              </a:rPr>
              <a:t>01  ·  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Calibri"/>
              </a:rPr>
              <a:t>Konfiguration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statt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C77DFF"/>
                </a:solidFill>
                <a:latin typeface="Calibri"/>
              </a:rPr>
              <a:t>Live </a:t>
            </a:r>
            <a:r>
              <a:rPr sz="1600" b="0" i="1" dirty="0" err="1">
                <a:solidFill>
                  <a:srgbClr val="C77DFF"/>
                </a:solidFill>
                <a:latin typeface="Calibri"/>
              </a:rPr>
              <a:t>für</a:t>
            </a:r>
            <a:r>
              <a:rPr sz="1600" b="0" i="1" dirty="0">
                <a:solidFill>
                  <a:srgbClr val="C77DFF"/>
                </a:solidFill>
                <a:latin typeface="Calibri"/>
              </a:rPr>
              <a:t> </a:t>
            </a:r>
            <a:r>
              <a:rPr lang="de-DE" sz="1600" b="0" i="1" dirty="0">
                <a:solidFill>
                  <a:srgbClr val="C77DFF"/>
                </a:solidFill>
                <a:latin typeface="Calibri"/>
              </a:rPr>
              <a:t> einen Kanal</a:t>
            </a:r>
            <a:r>
              <a:rPr sz="1600" b="0" i="1" dirty="0">
                <a:solidFill>
                  <a:srgbClr val="C77DFF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C77DFF"/>
                </a:solidFill>
                <a:latin typeface="Calibri"/>
              </a:rPr>
              <a:t>übertragbar</a:t>
            </a:r>
            <a:r>
              <a:rPr sz="1600" b="0" i="1" dirty="0">
                <a:solidFill>
                  <a:srgbClr val="C77DFF"/>
                </a:solidFill>
                <a:latin typeface="Calibri"/>
              </a:rPr>
              <a:t> auf </a:t>
            </a:r>
            <a:r>
              <a:rPr sz="1600" b="0" i="1" dirty="0" err="1">
                <a:solidFill>
                  <a:srgbClr val="C77DFF"/>
                </a:solidFill>
                <a:latin typeface="Calibri"/>
              </a:rPr>
              <a:t>beliebige</a:t>
            </a:r>
            <a:r>
              <a:rPr sz="1600" b="0" i="1" dirty="0">
                <a:solidFill>
                  <a:srgbClr val="C77DFF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77DFF"/>
                </a:solidFill>
                <a:latin typeface="Calibri"/>
              </a:rPr>
              <a:t>andere</a:t>
            </a:r>
            <a:r>
              <a:rPr sz="1600" b="0" i="1" dirty="0">
                <a:solidFill>
                  <a:srgbClr val="C77DFF"/>
                </a:solidFill>
                <a:latin typeface="Calibri"/>
              </a:rPr>
              <a:t> Streamer.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385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Live-Status, Streamplan, Socials, Donations — alles an einer Stelle.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3385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0624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Clip-Voting, OnlyBart-Premiumbereich, Bartclicker, Twitch-Panel-Extension.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6968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3385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Baukasten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0624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Zwei Configs (siteConfig.ts + i18n) genügen für einen neuen Streamer.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5147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77DFF"/>
                </a:solidFill>
                <a:latin typeface="Calibri"/>
              </a:rPr>
              <a:t>02  ·  TECH-STACK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Calibri"/>
              </a:rPr>
              <a:t>Technologie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dirty="0" err="1">
                <a:solidFill>
                  <a:srgbClr val="C77DFF"/>
                </a:solidFill>
                <a:latin typeface="Calibri"/>
              </a:rPr>
              <a:t>Schlank</a:t>
            </a:r>
            <a:r>
              <a:rPr sz="1500" b="0" i="1" dirty="0">
                <a:solidFill>
                  <a:srgbClr val="C77DFF"/>
                </a:solidFill>
                <a:latin typeface="Calibri"/>
              </a:rPr>
              <a:t>, modern und </a:t>
            </a:r>
            <a:r>
              <a:rPr lang="de-DE" sz="1500" b="0" i="1" dirty="0">
                <a:solidFill>
                  <a:srgbClr val="C77DFF"/>
                </a:solidFill>
                <a:latin typeface="Calibri"/>
              </a:rPr>
              <a:t>aufs kostenlose Hosting </a:t>
            </a:r>
            <a:r>
              <a:rPr sz="1500" b="0" i="1" dirty="0" err="1">
                <a:solidFill>
                  <a:srgbClr val="C77DFF"/>
                </a:solidFill>
                <a:latin typeface="Calibri"/>
              </a:rPr>
              <a:t>abgestimmt</a:t>
            </a:r>
            <a:r>
              <a:rPr sz="1500" b="0" i="1" dirty="0">
                <a:solidFill>
                  <a:srgbClr val="C77DFF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77317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4203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React 19 + 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4436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Frontend-Komponenten, strikte Typisierung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77317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4203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94436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Hot-Reload, Code-Splitting, Lazy-Routing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0761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764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78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Postgres, Auth, Realtime, Row Level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2940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00761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76472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Bun</a:t>
            </a:r>
            <a:r>
              <a:rPr lang="de-DE" sz="1800" b="1" i="0" dirty="0">
                <a:solidFill>
                  <a:srgbClr val="FFFFFF"/>
                </a:solidFill>
                <a:latin typeface="Calibri"/>
              </a:rPr>
              <a:t> lokal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0920" y="4178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TwitchAddon (Channel-Points-Bot, ~64 MB RAM)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868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4205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01091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Node + discord.js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41324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DiscordBot — Webhooks aus der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24205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01091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Docker + Nginx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41324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Reproduzierbares Hosting, GitHub Actions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99516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02  ·  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Systemarchitektur — vier entkoppelte Bausteine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C77DFF"/>
                </a:solidFill>
                <a:latin typeface="Calibri"/>
              </a:rPr>
              <a:t>Frontend ↔ </a:t>
            </a:r>
            <a:r>
              <a:rPr sz="1100" b="0" i="1" dirty="0" err="1">
                <a:solidFill>
                  <a:srgbClr val="C77DFF"/>
                </a:solidFill>
                <a:latin typeface="Calibri"/>
              </a:rPr>
              <a:t>Supabase</a:t>
            </a:r>
            <a:r>
              <a:rPr sz="1100" b="0" i="1" dirty="0">
                <a:solidFill>
                  <a:srgbClr val="C77DFF"/>
                </a:solidFill>
                <a:latin typeface="Calibri"/>
              </a:rPr>
              <a:t>  ·  </a:t>
            </a:r>
            <a:r>
              <a:rPr sz="1100" b="0" i="1" dirty="0" err="1">
                <a:solidFill>
                  <a:srgbClr val="C77DFF"/>
                </a:solidFill>
                <a:latin typeface="Calibri"/>
              </a:rPr>
              <a:t>TwitchAddon</a:t>
            </a:r>
            <a:r>
              <a:rPr sz="1100" b="0" i="1" dirty="0">
                <a:solidFill>
                  <a:srgbClr val="C77DFF"/>
                </a:solidFill>
                <a:latin typeface="Calibri"/>
              </a:rPr>
              <a:t> (Bun</a:t>
            </a:r>
            <a:r>
              <a:rPr lang="de-DE" sz="1100" b="0" i="1" dirty="0">
                <a:solidFill>
                  <a:srgbClr val="C77DFF"/>
                </a:solidFill>
                <a:latin typeface="Calibri"/>
              </a:rPr>
              <a:t>) </a:t>
            </a:r>
            <a:r>
              <a:rPr sz="1100" b="0" i="1" dirty="0">
                <a:solidFill>
                  <a:srgbClr val="C77DFF"/>
                </a:solidFill>
                <a:latin typeface="Calibri"/>
              </a:rPr>
              <a:t>·  </a:t>
            </a:r>
            <a:r>
              <a:rPr sz="1100" b="0" i="1" dirty="0" err="1">
                <a:solidFill>
                  <a:srgbClr val="C77DFF"/>
                </a:solidFill>
                <a:latin typeface="Calibri"/>
              </a:rPr>
              <a:t>DiscordBot</a:t>
            </a:r>
            <a:r>
              <a:rPr sz="1100" b="0" i="1" dirty="0">
                <a:solidFill>
                  <a:srgbClr val="C77DFF"/>
                </a:solidFill>
                <a:latin typeface="Calibri"/>
              </a:rPr>
              <a:t> (Render)  ·  </a:t>
            </a:r>
            <a:r>
              <a:rPr sz="1100" b="0" i="1" dirty="0" err="1">
                <a:solidFill>
                  <a:srgbClr val="C77DFF"/>
                </a:solidFill>
                <a:latin typeface="Calibri"/>
              </a:rPr>
              <a:t>pg_net</a:t>
            </a:r>
            <a:r>
              <a:rPr sz="1100" b="0" i="1" dirty="0">
                <a:solidFill>
                  <a:srgbClr val="C77DFF"/>
                </a:solidFill>
                <a:latin typeface="Calibri"/>
              </a:rPr>
              <a:t>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6 / 9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BF36726-2D46-19DB-8C31-62134100B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158" y="3914777"/>
            <a:ext cx="168269" cy="71457"/>
          </a:xfrm>
          <a:prstGeom prst="rect">
            <a:avLst/>
          </a:prstGeom>
        </p:spPr>
      </p:pic>
      <p:sp>
        <p:nvSpPr>
          <p:cNvPr id="14" name="AutoShape 2">
            <a:extLst>
              <a:ext uri="{FF2B5EF4-FFF2-40B4-BE49-F238E27FC236}">
                <a16:creationId xmlns:a16="http://schemas.microsoft.com/office/drawing/2014/main" id="{B7BA2CE0-A3C3-43CF-AFDE-4960513DBB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3A9D0566-524C-40F1-9D89-8F237246A7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13A85422-850C-428D-8575-7BCCE9341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colorTemperature colorTemp="63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4592" y="1078345"/>
            <a:ext cx="5572125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676F69B-AE43-4435-9BD6-83BD2E379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" contras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8593" y="1071706"/>
            <a:ext cx="5572125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06" y="3586"/>
            <a:ext cx="12191695" cy="6854414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65233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 dirty="0">
                <a:solidFill>
                  <a:srgbClr val="FFFFFF"/>
                </a:solidFill>
                <a:latin typeface="Calibri"/>
              </a:rPr>
              <a:t>Live-
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0" y="155448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0" y="1648467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63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Landingpage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Hero, Live-Section, Streamplan,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258568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0" y="2441448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2535435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50008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500" b="1" i="0" dirty="0">
                <a:solidFill>
                  <a:srgbClr val="FFFFFF"/>
                </a:solidFill>
                <a:latin typeface="Calibri"/>
              </a:rPr>
              <a:t>C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licker</a:t>
            </a:r>
            <a:r>
              <a:rPr lang="de-DE" sz="1500" b="1" i="0" dirty="0">
                <a:solidFill>
                  <a:srgbClr val="FFFFFF"/>
                </a:solidFill>
                <a:latin typeface="Calibri"/>
              </a:rPr>
              <a:t>-Game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26700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Mini-Spiel + Highscores via Supabase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145536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0" y="3328416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3422403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3697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Clip-Voting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55701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Twitch-Login, Voten, Realtime-Updates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032504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0" y="4215384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4309371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23944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500" b="1" i="0" dirty="0">
                <a:solidFill>
                  <a:srgbClr val="FFFFFF"/>
                </a:solidFill>
                <a:latin typeface="Calibri"/>
              </a:rPr>
              <a:t>Premium-Bereich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92440" y="444398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Geschützter Subscriber-Bereich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919472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98080" y="5102352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5196339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1091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Mod-Dashboard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3095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Voting verwalten, Statistiken, Trigger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80644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98080" y="598932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6083307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8978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TwitchAddon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62179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Channel-Points-Belohnungen im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80760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C77DFF"/>
                </a:solidFill>
                <a:latin typeface="Calibri"/>
              </a:rPr>
              <a:t>→ </a:t>
            </a:r>
            <a:r>
              <a:rPr sz="1800" b="1" i="0" dirty="0">
                <a:solidFill>
                  <a:srgbClr val="C77DFF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www.hd1920x1080.d</a:t>
            </a:r>
            <a:r>
              <a:rPr lang="de-DE" sz="1800" b="1" i="0" dirty="0">
                <a:solidFill>
                  <a:srgbClr val="C77DFF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de-DE" sz="1800" b="1" i="0" dirty="0">
                <a:solidFill>
                  <a:srgbClr val="C77DFF"/>
                </a:solidFill>
                <a:latin typeface="Calibri"/>
              </a:rPr>
              <a:t> </a:t>
            </a:r>
            <a:endParaRPr sz="1800" b="1" i="0" dirty="0">
              <a:solidFill>
                <a:srgbClr val="C77D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7 / 9</a:t>
            </a: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4FE8BAB0-5336-4B2B-8423-49677119C7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922EFC10-8D70-4E0A-8921-D4C13D8760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3777673" cy="377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D7522987-BF1A-4E62-A62D-11CDC52D0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325" y="4013718"/>
            <a:ext cx="2725907" cy="27259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5147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77DFF"/>
                </a:solidFill>
                <a:latin typeface="Calibri"/>
              </a:rPr>
              <a:t>03  ·  TECHNISCHE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Highlights und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Herausforderungen</a:t>
            </a:r>
            <a:endParaRPr sz="3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Highlights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3479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Row Level Security statt eigenem Auth-Server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3771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Lazy-Loading aller Routen → kleines Initial-Bundle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4063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Realtime-Voting via Supabase Realtime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4355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4663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Bun-Bot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647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pg_net + pg_cron triggern Discord direkt aus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Challenges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03479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Twitch-OAuth — automatischer Token-Refresh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53771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Voting-Logik: Monats- vs. Jahresrunden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04063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023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Konsistenz Frontend ↔ DB-Policies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54355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Konfigurierbarkeit (jede URL in siteConfig.ts)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504647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50292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Tests: Unit + Mutation (Stryker)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377440" y="3657600"/>
            <a:ext cx="5669280" cy="56692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04  ·  FAZIT &amp; FRAGEN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75895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 dirty="0" err="1">
                <a:solidFill>
                  <a:srgbClr val="FFFFFF"/>
                </a:solidFill>
                <a:latin typeface="Calibri"/>
              </a:rPr>
              <a:t>Fazit</a:t>
            </a:r>
            <a:endParaRPr sz="7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C77DFF"/>
                </a:solidFill>
                <a:latin typeface="Calibri"/>
              </a:rPr>
              <a:t>Vielen Dank — Fragen, Feedback, Ideen?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367842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3657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Baukasten-Kern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Zwei Configs (siteConfig.ts + i18n) ersetzen jeden Code-Eingriff.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391660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4370832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Stack arbeitet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736592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Supabase + RLS, Bun-Bot mit ~64 MB, GitHub Actions für alles andere.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5104892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084064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Skalierbar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49824"/>
            <a:ext cx="7040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 err="1">
                <a:solidFill>
                  <a:srgbClr val="B6A8D3"/>
                </a:solidFill>
                <a:latin typeface="Calibri"/>
              </a:rPr>
              <a:t>Neuer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 Streamer</a:t>
            </a:r>
            <a:r>
              <a:rPr lang="de-DE" sz="1200" b="0" i="1" dirty="0">
                <a:solidFill>
                  <a:srgbClr val="B6A8D3"/>
                </a:solidFill>
                <a:latin typeface="Calibri"/>
              </a:rPr>
              <a:t>: künftig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 setup.exe </a:t>
            </a:r>
            <a:r>
              <a:rPr sz="1200" b="0" i="1" dirty="0" err="1">
                <a:solidFill>
                  <a:srgbClr val="B6A8D3"/>
                </a:solidFill>
                <a:latin typeface="Calibri"/>
              </a:rPr>
              <a:t>ausführen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B6A8D3"/>
                </a:solidFill>
                <a:latin typeface="Calibri"/>
              </a:rPr>
              <a:t>nicht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 den </a:t>
            </a:r>
            <a:r>
              <a:rPr sz="1200" b="0" i="1" dirty="0" err="1">
                <a:solidFill>
                  <a:srgbClr val="B6A8D3"/>
                </a:solidFill>
                <a:latin typeface="Calibri"/>
              </a:rPr>
              <a:t>Quellcode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B6A8D3"/>
                </a:solidFill>
                <a:latin typeface="Calibri"/>
              </a:rPr>
              <a:t>forken</a:t>
            </a:r>
            <a:r>
              <a:rPr sz="1200" b="0" i="1" dirty="0">
                <a:solidFill>
                  <a:srgbClr val="B6A8D3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B6A8D3"/>
                </a:solidFill>
                <a:latin typeface="Calibri"/>
              </a:rPr>
              <a:t>github.com/HD1920x1080Media   ·   www.hd1920x1080.de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Breitbild</PresentationFormat>
  <Paragraphs>121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Robin</dc:creator>
  <cp:keywords/>
  <dc:description>generated using python-pptx</dc:description>
  <cp:lastModifiedBy>Robin</cp:lastModifiedBy>
  <cp:revision>12</cp:revision>
  <dcterms:created xsi:type="dcterms:W3CDTF">2013-01-27T09:14:16Z</dcterms:created>
  <dcterms:modified xsi:type="dcterms:W3CDTF">2026-06-11T08:25:02Z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7ee6ba-6ca1-4e29-92e0-fe5594b8f607_Enabled">
    <vt:lpwstr>true</vt:lpwstr>
  </property>
  <property fmtid="{D5CDD505-2E9C-101B-9397-08002B2CF9AE}" pid="3" name="MSIP_Label_6d7ee6ba-6ca1-4e29-92e0-fe5594b8f607_SetDate">
    <vt:lpwstr>2026-05-11T07:17:40Z</vt:lpwstr>
  </property>
  <property fmtid="{D5CDD505-2E9C-101B-9397-08002B2CF9AE}" pid="4" name="MSIP_Label_6d7ee6ba-6ca1-4e29-92e0-fe5594b8f607_Method">
    <vt:lpwstr>Privileged</vt:lpwstr>
  </property>
  <property fmtid="{D5CDD505-2E9C-101B-9397-08002B2CF9AE}" pid="5" name="MSIP_Label_6d7ee6ba-6ca1-4e29-92e0-fe5594b8f607_Name">
    <vt:lpwstr>OFFEN_ohne_Label_Sublabel</vt:lpwstr>
  </property>
  <property fmtid="{D5CDD505-2E9C-101B-9397-08002B2CF9AE}" pid="6" name="MSIP_Label_6d7ee6ba-6ca1-4e29-92e0-fe5594b8f607_SiteId">
    <vt:lpwstr>396b38cc-aa65-492b-bb0e-3d94ed25a97b</vt:lpwstr>
  </property>
  <property fmtid="{D5CDD505-2E9C-101B-9397-08002B2CF9AE}" pid="7" name="MSIP_Label_6d7ee6ba-6ca1-4e29-92e0-fe5594b8f607_ActionId">
    <vt:lpwstr>7606be49-231a-4297-9d66-d9d5288f3d4d</vt:lpwstr>
  </property>
  <property fmtid="{D5CDD505-2E9C-101B-9397-08002B2CF9AE}" pid="8" name="MSIP_Label_6d7ee6ba-6ca1-4e29-92e0-fe5594b8f607_ContentBits">
    <vt:lpwstr>0</vt:lpwstr>
  </property>
  <property fmtid="{D5CDD505-2E9C-101B-9397-08002B2CF9AE}" pid="9" name="MSIP_Label_6d7ee6ba-6ca1-4e29-92e0-fe5594b8f607_Tag">
    <vt:lpwstr>10, 0, 1, 1</vt:lpwstr>
  </property>
</Properties>
</file>