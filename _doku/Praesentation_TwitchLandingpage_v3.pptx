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wdp" ContentType="image/vnd.ms-photo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5" Type="http://schemas.openxmlformats.org/officeDocument/2006/relationships/custom-properties" Target="docProps/custom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11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C77DFF"/>
    <a:srgbClr val="1F163A"/>
    <a:srgbClr val="140E29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01" d="100"/>
          <a:sy n="101" d="100"/>
        </p:scale>
        <p:origin x="1602" y="7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viewProps" Target="viewProp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presProps" Target="pres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notesMaster" Target="notesMasters/notesMaster1.xml"/><Relationship Id="rId5" Type="http://schemas.openxmlformats.org/officeDocument/2006/relationships/slide" Target="slides/slide4.xml"/><Relationship Id="rId15" Type="http://schemas.openxmlformats.org/officeDocument/2006/relationships/tableStyles" Target="tableStyles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theme" Target="theme/theme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Kopfzeilenplatzhalt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de-DE"/>
          </a:p>
        </p:txBody>
      </p:sp>
      <p:sp>
        <p:nvSpPr>
          <p:cNvPr id="3" name="Datumsplatzhalt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63217D73-550F-4791-BACB-97561F3B97F3}" type="datetimeFigureOut">
              <a:rPr lang="de-DE" smtClean="0"/>
              <a:t>11.06.2026</a:t>
            </a:fld>
            <a:endParaRPr lang="de-DE"/>
          </a:p>
        </p:txBody>
      </p:sp>
      <p:sp>
        <p:nvSpPr>
          <p:cNvPr id="4" name="Folienbildplatzhalt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de-DE"/>
          </a:p>
        </p:txBody>
      </p:sp>
      <p:sp>
        <p:nvSpPr>
          <p:cNvPr id="5" name="Notizenplatzhalt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</a:p>
        </p:txBody>
      </p:sp>
      <p:sp>
        <p:nvSpPr>
          <p:cNvPr id="6" name="Fußzeilenplatzhalt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de-DE"/>
          </a:p>
        </p:txBody>
      </p:sp>
      <p:sp>
        <p:nvSpPr>
          <p:cNvPr id="7" name="Foliennummernplatzhalt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5A09EA95-CB25-40C2-BA4C-4CC8F65AE94A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2585645167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olienbildplatzhalt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izenplatzhalt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de-DE" dirty="0"/>
          </a:p>
        </p:txBody>
      </p:sp>
      <p:sp>
        <p:nvSpPr>
          <p:cNvPr id="4" name="Foliennummernplatzhalt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5A09EA95-CB25-40C2-BA4C-4CC8F65AE94A}" type="slidenum">
              <a:rPr lang="de-DE" smtClean="0"/>
              <a:t>6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2476908685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6/11/2026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‹Nr.›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6/11/2026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‹Nr.›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6/11/2026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‹Nr.›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6/11/2026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‹Nr.›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6/11/2026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‹Nr.›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6/11/2026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‹Nr.›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6/11/2026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‹Nr.›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6/11/2026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‹Nr.›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6/11/2026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‹Nr.›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6/11/2026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‹Nr.›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6/11/2026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‹Nr.›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6/11/2026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‹Nr.›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7" Type="http://schemas.openxmlformats.org/officeDocument/2006/relationships/image" Target="../media/image4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3.png"/><Relationship Id="rId5" Type="http://schemas.microsoft.com/office/2007/relationships/hdphoto" Target="../media/hdphoto1.wdp"/><Relationship Id="rId4" Type="http://schemas.openxmlformats.org/officeDocument/2006/relationships/image" Target="../media/image2.png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hyperlink" Target="http://www.hd1920x1080.de/" TargetMode="External"/><Relationship Id="rId1" Type="http://schemas.openxmlformats.org/officeDocument/2006/relationships/slideLayout" Target="../slideLayouts/slideLayout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40E2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grpSp>
        <p:nvGrpSpPr>
          <p:cNvPr id="11" name="Gruppieren 10">
            <a:extLst>
              <a:ext uri="{FF2B5EF4-FFF2-40B4-BE49-F238E27FC236}">
                <a16:creationId xmlns:a16="http://schemas.microsoft.com/office/drawing/2014/main" id="{B9905627-FA50-4359-9F60-BC7451BEDC01}"/>
              </a:ext>
            </a:extLst>
          </p:cNvPr>
          <p:cNvGrpSpPr/>
          <p:nvPr/>
        </p:nvGrpSpPr>
        <p:grpSpPr>
          <a:xfrm>
            <a:off x="7315200" y="-1828800"/>
            <a:ext cx="7772400" cy="7772400"/>
            <a:chOff x="7315200" y="-1828800"/>
            <a:chExt cx="7772400" cy="7772400"/>
          </a:xfrm>
        </p:grpSpPr>
        <p:sp>
          <p:nvSpPr>
            <p:cNvPr id="3" name="Oval 2"/>
            <p:cNvSpPr/>
            <p:nvPr/>
          </p:nvSpPr>
          <p:spPr>
            <a:xfrm>
              <a:off x="7315200" y="-1828800"/>
              <a:ext cx="7772400" cy="7772400"/>
            </a:xfrm>
            <a:prstGeom prst="ellipse">
              <a:avLst/>
            </a:prstGeom>
            <a:solidFill>
              <a:srgbClr val="9D4EDD"/>
            </a:solidFill>
            <a:ln>
              <a:noFill/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/>
            </a:p>
          </p:txBody>
        </p:sp>
        <p:sp>
          <p:nvSpPr>
            <p:cNvPr id="4" name="Oval 3"/>
            <p:cNvSpPr/>
            <p:nvPr/>
          </p:nvSpPr>
          <p:spPr>
            <a:xfrm>
              <a:off x="8686800" y="-914400"/>
              <a:ext cx="6400800" cy="6400800"/>
            </a:xfrm>
            <a:prstGeom prst="ellipse">
              <a:avLst/>
            </a:prstGeom>
            <a:solidFill>
              <a:srgbClr val="140E29"/>
            </a:solidFill>
            <a:ln>
              <a:noFill/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/>
            </a:p>
          </p:txBody>
        </p:sp>
      </p:grpSp>
      <p:sp>
        <p:nvSpPr>
          <p:cNvPr id="5" name="Oval 4"/>
          <p:cNvSpPr/>
          <p:nvPr/>
        </p:nvSpPr>
        <p:spPr>
          <a:xfrm>
            <a:off x="640080" y="640080"/>
            <a:ext cx="228600" cy="228600"/>
          </a:xfrm>
          <a:prstGeom prst="ellipse">
            <a:avLst/>
          </a:prstGeom>
          <a:solidFill>
            <a:srgbClr val="E539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960120" y="660719"/>
            <a:ext cx="1828800" cy="18466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200" b="1" i="0" dirty="0">
                <a:solidFill>
                  <a:srgbClr val="FFFFFF"/>
                </a:solidFill>
                <a:latin typeface="Calibri"/>
              </a:rPr>
              <a:t>LIVE 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828800"/>
            <a:ext cx="7772400" cy="1463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4800" b="1" i="0" dirty="0" err="1">
                <a:solidFill>
                  <a:srgbClr val="FFFFFF"/>
                </a:solidFill>
                <a:latin typeface="Calibri"/>
              </a:rPr>
              <a:t>Konfigurierbare</a:t>
            </a:r>
            <a:r>
              <a:rPr sz="4800" b="1" i="0" dirty="0">
                <a:solidFill>
                  <a:srgbClr val="FFFFFF"/>
                </a:solidFill>
                <a:latin typeface="Calibri"/>
              </a:rPr>
              <a:t>
Streaming-</a:t>
            </a:r>
            <a:r>
              <a:rPr sz="4800" b="1" i="0" dirty="0" err="1">
                <a:solidFill>
                  <a:srgbClr val="FFFFFF"/>
                </a:solidFill>
                <a:latin typeface="Calibri"/>
              </a:rPr>
              <a:t>Landingpage</a:t>
            </a:r>
            <a:endParaRPr sz="4800" b="1" i="0" dirty="0">
              <a:solidFill>
                <a:srgbClr val="FFFFFF"/>
              </a:solidFill>
              <a:latin typeface="Calibri"/>
            </a:endParaRPr>
          </a:p>
        </p:txBody>
      </p:sp>
      <p:sp>
        <p:nvSpPr>
          <p:cNvPr id="8" name="TextBox 7"/>
          <p:cNvSpPr txBox="1"/>
          <p:nvPr/>
        </p:nvSpPr>
        <p:spPr>
          <a:xfrm>
            <a:off x="640080" y="4297680"/>
            <a:ext cx="7772400" cy="9144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800" b="0" i="1">
                <a:solidFill>
                  <a:srgbClr val="C77DFF"/>
                </a:solidFill>
                <a:latin typeface="Calibri"/>
              </a:rPr>
              <a:t>Ein modularer Baukasten mit Community-Integration.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6035040"/>
            <a:ext cx="731520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200" b="0" i="0">
                <a:solidFill>
                  <a:srgbClr val="B6A8D3"/>
                </a:solidFill>
                <a:latin typeface="Calibri"/>
              </a:rPr>
              <a:t>Robin Wagner  ·  Transfer-Projekt  ·  Prof. Dr. Mauer  ·  RH Köln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601200" y="6035040"/>
            <a:ext cx="219456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/>
            <a:r>
              <a:rPr sz="1200" b="0" i="0">
                <a:solidFill>
                  <a:srgbClr val="B6A8D3"/>
                </a:solidFill>
                <a:latin typeface="Calibri"/>
              </a:rPr>
              <a:t>Sommersemester 2026</a:t>
            </a:r>
          </a:p>
        </p:txBody>
      </p:sp>
      <p:sp>
        <p:nvSpPr>
          <p:cNvPr id="12" name="Rounded Rectangle 6">
            <a:extLst>
              <a:ext uri="{FF2B5EF4-FFF2-40B4-BE49-F238E27FC236}">
                <a16:creationId xmlns:a16="http://schemas.microsoft.com/office/drawing/2014/main" id="{CEDD5F35-2163-44A2-A174-D07A6F067E20}"/>
              </a:ext>
            </a:extLst>
          </p:cNvPr>
          <p:cNvSpPr/>
          <p:nvPr/>
        </p:nvSpPr>
        <p:spPr>
          <a:xfrm>
            <a:off x="-11132820" y="2468880"/>
            <a:ext cx="10881360" cy="868680"/>
          </a:xfrm>
          <a:prstGeom prst="roundRect">
            <a:avLst>
              <a:gd name="adj" fmla="val 25000"/>
            </a:avLst>
          </a:prstGeom>
          <a:solidFill>
            <a:srgbClr val="291E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Rounded Rectangle 11">
            <a:extLst>
              <a:ext uri="{FF2B5EF4-FFF2-40B4-BE49-F238E27FC236}">
                <a16:creationId xmlns:a16="http://schemas.microsoft.com/office/drawing/2014/main" id="{476765D3-A6BB-4438-9DD1-02AE0B99E493}"/>
              </a:ext>
            </a:extLst>
          </p:cNvPr>
          <p:cNvSpPr/>
          <p:nvPr/>
        </p:nvSpPr>
        <p:spPr>
          <a:xfrm>
            <a:off x="-11132820" y="3429000"/>
            <a:ext cx="10881360" cy="868680"/>
          </a:xfrm>
          <a:prstGeom prst="roundRect">
            <a:avLst>
              <a:gd name="adj" fmla="val 25000"/>
            </a:avLst>
          </a:prstGeom>
          <a:solidFill>
            <a:srgbClr val="291E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Rounded Rectangle 16">
            <a:extLst>
              <a:ext uri="{FF2B5EF4-FFF2-40B4-BE49-F238E27FC236}">
                <a16:creationId xmlns:a16="http://schemas.microsoft.com/office/drawing/2014/main" id="{403A9588-F9B9-4F51-BECE-E630D3593D8C}"/>
              </a:ext>
            </a:extLst>
          </p:cNvPr>
          <p:cNvSpPr/>
          <p:nvPr/>
        </p:nvSpPr>
        <p:spPr>
          <a:xfrm>
            <a:off x="-11132820" y="4389120"/>
            <a:ext cx="10881360" cy="868680"/>
          </a:xfrm>
          <a:prstGeom prst="roundRect">
            <a:avLst>
              <a:gd name="adj" fmla="val 25000"/>
            </a:avLst>
          </a:prstGeom>
          <a:solidFill>
            <a:srgbClr val="291E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Rounded Rectangle 21">
            <a:extLst>
              <a:ext uri="{FF2B5EF4-FFF2-40B4-BE49-F238E27FC236}">
                <a16:creationId xmlns:a16="http://schemas.microsoft.com/office/drawing/2014/main" id="{7240DCD3-ED70-421A-95B2-438B449C4DB9}"/>
              </a:ext>
            </a:extLst>
          </p:cNvPr>
          <p:cNvSpPr/>
          <p:nvPr/>
        </p:nvSpPr>
        <p:spPr>
          <a:xfrm>
            <a:off x="-11132820" y="5349240"/>
            <a:ext cx="10881360" cy="868680"/>
          </a:xfrm>
          <a:prstGeom prst="roundRect">
            <a:avLst>
              <a:gd name="adj" fmla="val 25000"/>
            </a:avLst>
          </a:prstGeom>
          <a:solidFill>
            <a:srgbClr val="291E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</p:spTree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-15088" y="0"/>
            <a:ext cx="12191695" cy="6858000"/>
          </a:xfrm>
          <a:prstGeom prst="rect">
            <a:avLst/>
          </a:prstGeom>
          <a:solidFill>
            <a:srgbClr val="1F16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Oval 2"/>
          <p:cNvSpPr/>
          <p:nvPr/>
        </p:nvSpPr>
        <p:spPr>
          <a:xfrm>
            <a:off x="548640" y="566928"/>
            <a:ext cx="164592" cy="164592"/>
          </a:xfrm>
          <a:prstGeom prst="ellipse">
            <a:avLst/>
          </a:prstGeom>
          <a:solidFill>
            <a:srgbClr val="C77D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822960" y="546283"/>
            <a:ext cx="731520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200" b="1" i="0" dirty="0">
                <a:solidFill>
                  <a:srgbClr val="C77DFF"/>
                </a:solidFill>
                <a:latin typeface="Calibri"/>
              </a:rPr>
              <a:t>AGENDA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914400"/>
            <a:ext cx="9144000" cy="67710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4400" b="1" i="0" dirty="0">
                <a:solidFill>
                  <a:srgbClr val="FFFFFF"/>
                </a:solidFill>
                <a:latin typeface="Calibri"/>
              </a:rPr>
              <a:t>Agenda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40080" y="2468880"/>
            <a:ext cx="10881360" cy="868680"/>
          </a:xfrm>
          <a:prstGeom prst="roundRect">
            <a:avLst>
              <a:gd name="adj" fmla="val 25000"/>
            </a:avLst>
          </a:prstGeom>
          <a:solidFill>
            <a:srgbClr val="291E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868680" y="2633472"/>
            <a:ext cx="822960" cy="5486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2200" b="1" i="0">
                <a:solidFill>
                  <a:srgbClr val="C77DFF"/>
                </a:solidFill>
                <a:latin typeface="Calibri"/>
              </a:rPr>
              <a:t>01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737360" y="2587752"/>
            <a:ext cx="5486400" cy="4114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800" b="1" i="0">
                <a:solidFill>
                  <a:srgbClr val="FFFFFF"/>
                </a:solidFill>
                <a:latin typeface="Calibri"/>
              </a:rPr>
              <a:t>Problem &amp; Lösung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737360" y="2926080"/>
            <a:ext cx="548640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200" b="0" i="1">
                <a:solidFill>
                  <a:srgbClr val="B6A8D3"/>
                </a:solidFill>
                <a:latin typeface="Calibri"/>
              </a:rPr>
              <a:t>Was fehlt — und was der Baukasten anders macht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40080" y="3429000"/>
            <a:ext cx="10881360" cy="868680"/>
          </a:xfrm>
          <a:prstGeom prst="roundRect">
            <a:avLst>
              <a:gd name="adj" fmla="val 25000"/>
            </a:avLst>
          </a:prstGeom>
          <a:solidFill>
            <a:srgbClr val="291E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868680" y="3593592"/>
            <a:ext cx="822960" cy="5486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2200" b="1" i="0">
                <a:solidFill>
                  <a:srgbClr val="C77DFF"/>
                </a:solidFill>
                <a:latin typeface="Calibri"/>
              </a:rPr>
              <a:t>02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737360" y="3547872"/>
            <a:ext cx="5486400" cy="4114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800" b="1" i="0">
                <a:solidFill>
                  <a:srgbClr val="FFFFFF"/>
                </a:solidFill>
                <a:latin typeface="Calibri"/>
              </a:rPr>
              <a:t>Tech-Stack &amp; Architektur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737360" y="3886200"/>
            <a:ext cx="548640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200" b="0" i="1">
                <a:solidFill>
                  <a:srgbClr val="B6A8D3"/>
                </a:solidFill>
                <a:latin typeface="Calibri"/>
              </a:rPr>
              <a:t>React, Supabase, Bots, UML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40080" y="4389120"/>
            <a:ext cx="10881360" cy="868680"/>
          </a:xfrm>
          <a:prstGeom prst="roundRect">
            <a:avLst>
              <a:gd name="adj" fmla="val 25000"/>
            </a:avLst>
          </a:prstGeom>
          <a:solidFill>
            <a:srgbClr val="291E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TextBox 17"/>
          <p:cNvSpPr txBox="1"/>
          <p:nvPr/>
        </p:nvSpPr>
        <p:spPr>
          <a:xfrm>
            <a:off x="868680" y="4553712"/>
            <a:ext cx="822960" cy="5486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2200" b="1" i="0">
                <a:solidFill>
                  <a:srgbClr val="C77DFF"/>
                </a:solidFill>
                <a:latin typeface="Calibri"/>
              </a:rPr>
              <a:t>03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737360" y="4507992"/>
            <a:ext cx="5486400" cy="4114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800" b="1" i="0">
                <a:solidFill>
                  <a:srgbClr val="FFFFFF"/>
                </a:solidFill>
                <a:latin typeface="Calibri"/>
              </a:rPr>
              <a:t>Live-Demo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737360" y="4846320"/>
            <a:ext cx="548640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200" b="0" i="1">
                <a:solidFill>
                  <a:srgbClr val="B6A8D3"/>
                </a:solidFill>
                <a:latin typeface="Calibri"/>
              </a:rPr>
              <a:t>Landingpage, Voting, OnlyBart, Mod-Dashboard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640080" y="5349240"/>
            <a:ext cx="10881360" cy="868680"/>
          </a:xfrm>
          <a:prstGeom prst="roundRect">
            <a:avLst>
              <a:gd name="adj" fmla="val 25000"/>
            </a:avLst>
          </a:prstGeom>
          <a:solidFill>
            <a:srgbClr val="291E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3" name="TextBox 22"/>
          <p:cNvSpPr txBox="1"/>
          <p:nvPr/>
        </p:nvSpPr>
        <p:spPr>
          <a:xfrm>
            <a:off x="868680" y="5513832"/>
            <a:ext cx="822960" cy="5486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2200" b="1" i="0">
                <a:solidFill>
                  <a:srgbClr val="C77DFF"/>
                </a:solidFill>
                <a:latin typeface="Calibri"/>
              </a:rPr>
              <a:t>04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737360" y="5468112"/>
            <a:ext cx="5486400" cy="4114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800" b="1" i="0">
                <a:solidFill>
                  <a:srgbClr val="FFFFFF"/>
                </a:solidFill>
                <a:latin typeface="Calibri"/>
              </a:rPr>
              <a:t>Fazit &amp; Ausblick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737360" y="5806440"/>
            <a:ext cx="548640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200" b="0" i="1">
                <a:solidFill>
                  <a:srgbClr val="B6A8D3"/>
                </a:solidFill>
                <a:latin typeface="Calibri"/>
              </a:rPr>
              <a:t>Lessons Learned, Next Steps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1338560" y="6446520"/>
            <a:ext cx="73152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/>
            <a:r>
              <a:rPr sz="1000" b="0" i="0">
                <a:solidFill>
                  <a:srgbClr val="B6A8D3"/>
                </a:solidFill>
                <a:latin typeface="Calibri"/>
              </a:rPr>
              <a:t>2 / 9</a:t>
            </a:r>
          </a:p>
        </p:txBody>
      </p:sp>
      <p:grpSp>
        <p:nvGrpSpPr>
          <p:cNvPr id="29" name="Gruppieren 28">
            <a:extLst>
              <a:ext uri="{FF2B5EF4-FFF2-40B4-BE49-F238E27FC236}">
                <a16:creationId xmlns:a16="http://schemas.microsoft.com/office/drawing/2014/main" id="{17876F8D-8149-4A75-A471-B1C5494BE397}"/>
              </a:ext>
            </a:extLst>
          </p:cNvPr>
          <p:cNvGrpSpPr/>
          <p:nvPr/>
        </p:nvGrpSpPr>
        <p:grpSpPr>
          <a:xfrm>
            <a:off x="12091035" y="-5960745"/>
            <a:ext cx="7772400" cy="7772400"/>
            <a:chOff x="7315200" y="-1828800"/>
            <a:chExt cx="7772400" cy="7772400"/>
          </a:xfrm>
        </p:grpSpPr>
        <p:sp>
          <p:nvSpPr>
            <p:cNvPr id="30" name="Oval 2">
              <a:extLst>
                <a:ext uri="{FF2B5EF4-FFF2-40B4-BE49-F238E27FC236}">
                  <a16:creationId xmlns:a16="http://schemas.microsoft.com/office/drawing/2014/main" id="{1778DFA8-0C78-4807-929A-166D357E9952}"/>
                </a:ext>
              </a:extLst>
            </p:cNvPr>
            <p:cNvSpPr/>
            <p:nvPr/>
          </p:nvSpPr>
          <p:spPr>
            <a:xfrm>
              <a:off x="7315200" y="-1828800"/>
              <a:ext cx="7772400" cy="7772400"/>
            </a:xfrm>
            <a:prstGeom prst="ellipse">
              <a:avLst/>
            </a:prstGeom>
            <a:solidFill>
              <a:srgbClr val="9D4EDD"/>
            </a:solidFill>
            <a:ln>
              <a:noFill/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/>
            </a:p>
          </p:txBody>
        </p:sp>
        <p:sp>
          <p:nvSpPr>
            <p:cNvPr id="31" name="Oval 3">
              <a:extLst>
                <a:ext uri="{FF2B5EF4-FFF2-40B4-BE49-F238E27FC236}">
                  <a16:creationId xmlns:a16="http://schemas.microsoft.com/office/drawing/2014/main" id="{A8C75B3B-F411-4A58-BB5D-BED92781E19D}"/>
                </a:ext>
              </a:extLst>
            </p:cNvPr>
            <p:cNvSpPr/>
            <p:nvPr/>
          </p:nvSpPr>
          <p:spPr>
            <a:xfrm>
              <a:off x="8686800" y="-914400"/>
              <a:ext cx="6400800" cy="6400800"/>
            </a:xfrm>
            <a:prstGeom prst="ellipse">
              <a:avLst/>
            </a:prstGeom>
            <a:solidFill>
              <a:srgbClr val="140E29"/>
            </a:solidFill>
            <a:ln>
              <a:noFill/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/>
            </a:p>
          </p:txBody>
        </p:sp>
      </p:grpSp>
    </p:spTree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F16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Oval 2"/>
          <p:cNvSpPr/>
          <p:nvPr/>
        </p:nvSpPr>
        <p:spPr>
          <a:xfrm>
            <a:off x="548640" y="566928"/>
            <a:ext cx="164592" cy="164592"/>
          </a:xfrm>
          <a:prstGeom prst="ellipse">
            <a:avLst/>
          </a:prstGeom>
          <a:solidFill>
            <a:srgbClr val="C77D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822960" y="542043"/>
            <a:ext cx="731520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200" b="1" i="0" dirty="0">
                <a:solidFill>
                  <a:srgbClr val="C77DFF"/>
                </a:solidFill>
                <a:latin typeface="Calibri"/>
              </a:rPr>
              <a:t>01  ·  DAS PROBLEM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914400"/>
            <a:ext cx="10058400" cy="615553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4000" b="1" i="0" dirty="0" err="1">
                <a:solidFill>
                  <a:srgbClr val="FFFFFF"/>
                </a:solidFill>
                <a:latin typeface="Calibri"/>
              </a:rPr>
              <a:t>Drei</a:t>
            </a:r>
            <a:r>
              <a:rPr sz="4000" b="1" i="0" dirty="0">
                <a:solidFill>
                  <a:srgbClr val="FFFFFF"/>
                </a:solidFill>
                <a:latin typeface="Calibri"/>
              </a:rPr>
              <a:t> </a:t>
            </a:r>
            <a:r>
              <a:rPr sz="4000" b="1" i="0" dirty="0" err="1">
                <a:solidFill>
                  <a:srgbClr val="FFFFFF"/>
                </a:solidFill>
                <a:latin typeface="Calibri"/>
              </a:rPr>
              <a:t>wiederkehrende</a:t>
            </a:r>
            <a:r>
              <a:rPr sz="4000" b="1" i="0" dirty="0">
                <a:solidFill>
                  <a:srgbClr val="FFFFFF"/>
                </a:solidFill>
                <a:latin typeface="Calibri"/>
              </a:rPr>
              <a:t> </a:t>
            </a:r>
            <a:r>
              <a:rPr sz="4000" b="1" i="0" dirty="0" err="1">
                <a:solidFill>
                  <a:srgbClr val="FFFFFF"/>
                </a:solidFill>
                <a:latin typeface="Calibri"/>
              </a:rPr>
              <a:t>Lücken</a:t>
            </a:r>
            <a:endParaRPr sz="4000" b="1" i="0" dirty="0">
              <a:solidFill>
                <a:srgbClr val="FFFFFF"/>
              </a:solidFill>
              <a:latin typeface="Calibri"/>
            </a:endParaRPr>
          </a:p>
        </p:txBody>
      </p:sp>
      <p:sp>
        <p:nvSpPr>
          <p:cNvPr id="6" name="TextBox 5"/>
          <p:cNvSpPr txBox="1"/>
          <p:nvPr/>
        </p:nvSpPr>
        <p:spPr>
          <a:xfrm>
            <a:off x="640080" y="1783080"/>
            <a:ext cx="1005840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500" b="0" i="1">
                <a:solidFill>
                  <a:srgbClr val="C77DFF"/>
                </a:solidFill>
                <a:latin typeface="Calibri"/>
              </a:rPr>
              <a:t>Bestehende Linkpages und Stream-Plattformen liefern keine vollständige Lösung.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40080" y="2606040"/>
            <a:ext cx="10881360" cy="1097280"/>
          </a:xfrm>
          <a:prstGeom prst="roundRect">
            <a:avLst>
              <a:gd name="adj" fmla="val 15000"/>
            </a:avLst>
          </a:prstGeom>
          <a:solidFill>
            <a:srgbClr val="291E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Oval 7"/>
          <p:cNvSpPr/>
          <p:nvPr/>
        </p:nvSpPr>
        <p:spPr>
          <a:xfrm>
            <a:off x="914400" y="2880360"/>
            <a:ext cx="548640" cy="548640"/>
          </a:xfrm>
          <a:prstGeom prst="ellipse">
            <a:avLst/>
          </a:prstGeom>
          <a:solidFill>
            <a:srgbClr val="E539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904973" y="2992918"/>
            <a:ext cx="548640" cy="33855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2200" b="1" i="0" dirty="0">
                <a:solidFill>
                  <a:srgbClr val="FFFFFF"/>
                </a:solidFill>
                <a:latin typeface="Calibri"/>
              </a:rPr>
              <a:t>!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691640" y="2770632"/>
            <a:ext cx="868680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800" b="1" i="0">
                <a:solidFill>
                  <a:srgbClr val="FFFFFF"/>
                </a:solidFill>
                <a:latin typeface="Calibri"/>
              </a:rPr>
              <a:t>Optik wirkt billig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691640" y="3154680"/>
            <a:ext cx="8686800" cy="5486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200" b="0" i="1">
                <a:solidFill>
                  <a:srgbClr val="B6A8D3"/>
                </a:solidFill>
                <a:latin typeface="Calibri"/>
              </a:rPr>
              <a:t>Linktree, Linkme &amp; Co. sehen alle gleich aus — generisches Layout,
keine eigene Marke, keine Designhoheit für den Kanal.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40080" y="3813048"/>
            <a:ext cx="10881360" cy="1097280"/>
          </a:xfrm>
          <a:prstGeom prst="roundRect">
            <a:avLst>
              <a:gd name="adj" fmla="val 15000"/>
            </a:avLst>
          </a:prstGeom>
          <a:solidFill>
            <a:srgbClr val="291E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Oval 12"/>
          <p:cNvSpPr/>
          <p:nvPr/>
        </p:nvSpPr>
        <p:spPr>
          <a:xfrm>
            <a:off x="914400" y="4087368"/>
            <a:ext cx="548640" cy="548640"/>
          </a:xfrm>
          <a:prstGeom prst="ellipse">
            <a:avLst/>
          </a:prstGeom>
          <a:solidFill>
            <a:srgbClr val="E539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904973" y="4199926"/>
            <a:ext cx="548640" cy="33855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2200" b="1" i="0">
                <a:solidFill>
                  <a:srgbClr val="FFFFFF"/>
                </a:solidFill>
                <a:latin typeface="Calibri"/>
              </a:rPr>
              <a:t>!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691640" y="3977640"/>
            <a:ext cx="868680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800" b="1" i="0">
                <a:solidFill>
                  <a:srgbClr val="FFFFFF"/>
                </a:solidFill>
                <a:latin typeface="Calibri"/>
              </a:rPr>
              <a:t>Nur gegen Bezahlung schön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691640" y="4361688"/>
            <a:ext cx="8686800" cy="5486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200" b="0" i="1">
                <a:solidFill>
                  <a:srgbClr val="B6A8D3"/>
                </a:solidFill>
                <a:latin typeface="Calibri"/>
              </a:rPr>
              <a:t>Eigenes Theming, eigene Sektionen, mehr als ein paar Links —
das gibt's bei den Anbietern nur in den Premium-Tarifen.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40080" y="5020056"/>
            <a:ext cx="10881360" cy="1097280"/>
          </a:xfrm>
          <a:prstGeom prst="roundRect">
            <a:avLst>
              <a:gd name="adj" fmla="val 15000"/>
            </a:avLst>
          </a:prstGeom>
          <a:solidFill>
            <a:srgbClr val="291E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Oval 17"/>
          <p:cNvSpPr/>
          <p:nvPr/>
        </p:nvSpPr>
        <p:spPr>
          <a:xfrm>
            <a:off x="914400" y="5294376"/>
            <a:ext cx="548640" cy="548640"/>
          </a:xfrm>
          <a:prstGeom prst="ellipse">
            <a:avLst/>
          </a:prstGeom>
          <a:solidFill>
            <a:srgbClr val="E539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TextBox 18"/>
          <p:cNvSpPr txBox="1"/>
          <p:nvPr/>
        </p:nvSpPr>
        <p:spPr>
          <a:xfrm>
            <a:off x="904973" y="5406934"/>
            <a:ext cx="548640" cy="33855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2200" b="1" i="0">
                <a:solidFill>
                  <a:srgbClr val="FFFFFF"/>
                </a:solidFill>
                <a:latin typeface="Calibri"/>
              </a:rPr>
              <a:t>!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691640" y="5184648"/>
            <a:ext cx="868680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800" b="1" i="0">
                <a:solidFill>
                  <a:srgbClr val="FFFFFF"/>
                </a:solidFill>
                <a:latin typeface="Calibri"/>
              </a:rPr>
              <a:t>Lock-In, kein Export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691640" y="5568696"/>
            <a:ext cx="8686800" cy="5486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200" b="0" i="1">
                <a:solidFill>
                  <a:srgbClr val="B6A8D3"/>
                </a:solidFill>
                <a:latin typeface="Calibri"/>
              </a:rPr>
              <a:t>Inhalte hängen in proprietären Plattformen fest. Ein Wechsel
des Anbieters bedeutet faktisch alles neu eintippen.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40080" y="6263640"/>
            <a:ext cx="1097280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400" b="1" i="1">
                <a:solidFill>
                  <a:srgbClr val="C77DFF"/>
                </a:solidFill>
                <a:latin typeface="Calibri"/>
              </a:rPr>
              <a:t>Eine wirklich schöne, frei anpassbare und kostenfreie Lösung? — gibt es schlicht nicht.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1338560" y="6446520"/>
            <a:ext cx="73152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/>
            <a:r>
              <a:rPr sz="1000" b="0" i="0">
                <a:solidFill>
                  <a:srgbClr val="B6A8D3"/>
                </a:solidFill>
                <a:latin typeface="Calibri"/>
              </a:rPr>
              <a:t>3 / 9</a:t>
            </a:r>
          </a:p>
        </p:txBody>
      </p:sp>
    </p:spTree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F16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Oval 2"/>
          <p:cNvSpPr/>
          <p:nvPr/>
        </p:nvSpPr>
        <p:spPr>
          <a:xfrm>
            <a:off x="548640" y="566928"/>
            <a:ext cx="164592" cy="164592"/>
          </a:xfrm>
          <a:prstGeom prst="ellipse">
            <a:avLst/>
          </a:prstGeom>
          <a:solidFill>
            <a:srgbClr val="C77D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822960" y="551470"/>
            <a:ext cx="731520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200" b="1" i="0" dirty="0">
                <a:solidFill>
                  <a:srgbClr val="C77DFF"/>
                </a:solidFill>
                <a:latin typeface="Calibri"/>
              </a:rPr>
              <a:t>01  ·  DIE LÖSUNG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914400"/>
            <a:ext cx="10058400" cy="615553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4000" b="1" i="0" dirty="0" err="1">
                <a:solidFill>
                  <a:srgbClr val="FFFFFF"/>
                </a:solidFill>
                <a:latin typeface="Calibri"/>
              </a:rPr>
              <a:t>Konfiguration</a:t>
            </a:r>
            <a:r>
              <a:rPr sz="4000" b="1" i="0" dirty="0">
                <a:solidFill>
                  <a:srgbClr val="FFFFFF"/>
                </a:solidFill>
                <a:latin typeface="Calibri"/>
              </a:rPr>
              <a:t> </a:t>
            </a:r>
            <a:r>
              <a:rPr sz="4000" b="1" i="0" dirty="0" err="1">
                <a:solidFill>
                  <a:srgbClr val="FFFFFF"/>
                </a:solidFill>
                <a:latin typeface="Calibri"/>
              </a:rPr>
              <a:t>statt</a:t>
            </a:r>
            <a:r>
              <a:rPr sz="4000" b="1" i="0" dirty="0">
                <a:solidFill>
                  <a:srgbClr val="FFFFFF"/>
                </a:solidFill>
                <a:latin typeface="Calibri"/>
              </a:rPr>
              <a:t> Code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1783080"/>
            <a:ext cx="10058400" cy="246221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600" b="0" i="1" dirty="0">
                <a:solidFill>
                  <a:srgbClr val="C77DFF"/>
                </a:solidFill>
                <a:latin typeface="Calibri"/>
              </a:rPr>
              <a:t>Live </a:t>
            </a:r>
            <a:r>
              <a:rPr sz="1600" b="0" i="1" dirty="0" err="1">
                <a:solidFill>
                  <a:srgbClr val="C77DFF"/>
                </a:solidFill>
                <a:latin typeface="Calibri"/>
              </a:rPr>
              <a:t>für</a:t>
            </a:r>
            <a:r>
              <a:rPr sz="1600" b="0" i="1" dirty="0">
                <a:solidFill>
                  <a:srgbClr val="C77DFF"/>
                </a:solidFill>
                <a:latin typeface="Calibri"/>
              </a:rPr>
              <a:t> </a:t>
            </a:r>
            <a:r>
              <a:rPr lang="de-DE" sz="1600" b="0" i="1" dirty="0">
                <a:solidFill>
                  <a:srgbClr val="C77DFF"/>
                </a:solidFill>
                <a:latin typeface="Calibri"/>
              </a:rPr>
              <a:t> einen Kanal</a:t>
            </a:r>
            <a:r>
              <a:rPr sz="1600" b="0" i="1" dirty="0">
                <a:solidFill>
                  <a:srgbClr val="C77DFF"/>
                </a:solidFill>
                <a:latin typeface="Calibri"/>
              </a:rPr>
              <a:t> — </a:t>
            </a:r>
            <a:r>
              <a:rPr sz="1600" b="0" i="1" dirty="0" err="1">
                <a:solidFill>
                  <a:srgbClr val="C77DFF"/>
                </a:solidFill>
                <a:latin typeface="Calibri"/>
              </a:rPr>
              <a:t>übertragbar</a:t>
            </a:r>
            <a:r>
              <a:rPr sz="1600" b="0" i="1" dirty="0">
                <a:solidFill>
                  <a:srgbClr val="C77DFF"/>
                </a:solidFill>
                <a:latin typeface="Calibri"/>
              </a:rPr>
              <a:t> auf </a:t>
            </a:r>
            <a:r>
              <a:rPr sz="1600" b="0" i="1" dirty="0" err="1">
                <a:solidFill>
                  <a:srgbClr val="C77DFF"/>
                </a:solidFill>
                <a:latin typeface="Calibri"/>
              </a:rPr>
              <a:t>beliebige</a:t>
            </a:r>
            <a:r>
              <a:rPr sz="1600" b="0" i="1" dirty="0">
                <a:solidFill>
                  <a:srgbClr val="C77DFF"/>
                </a:solidFill>
                <a:latin typeface="Calibri"/>
              </a:rPr>
              <a:t> </a:t>
            </a:r>
            <a:r>
              <a:rPr sz="1600" b="0" i="1" dirty="0" err="1">
                <a:solidFill>
                  <a:srgbClr val="C77DFF"/>
                </a:solidFill>
                <a:latin typeface="Calibri"/>
              </a:rPr>
              <a:t>andere</a:t>
            </a:r>
            <a:r>
              <a:rPr sz="1600" b="0" i="1" dirty="0">
                <a:solidFill>
                  <a:srgbClr val="C77DFF"/>
                </a:solidFill>
                <a:latin typeface="Calibri"/>
              </a:rPr>
              <a:t> Streamer.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40080" y="2926080"/>
            <a:ext cx="3657600" cy="3108960"/>
          </a:xfrm>
          <a:prstGeom prst="roundRect">
            <a:avLst>
              <a:gd name="adj" fmla="val 10000"/>
            </a:avLst>
          </a:prstGeom>
          <a:solidFill>
            <a:srgbClr val="291E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Oval 7"/>
          <p:cNvSpPr/>
          <p:nvPr/>
        </p:nvSpPr>
        <p:spPr>
          <a:xfrm>
            <a:off x="1005840" y="3291840"/>
            <a:ext cx="502920" cy="502920"/>
          </a:xfrm>
          <a:prstGeom prst="ellipse">
            <a:avLst/>
          </a:prstGeom>
          <a:solidFill>
            <a:srgbClr val="9D4ED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1005840" y="3385544"/>
            <a:ext cx="502920" cy="5029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2000" b="1" i="0">
                <a:solidFill>
                  <a:srgbClr val="FFFFFF"/>
                </a:solidFill>
                <a:latin typeface="Calibri"/>
              </a:rPr>
              <a:t>H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737360" y="3337560"/>
            <a:ext cx="237744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2200" b="1" i="0">
                <a:solidFill>
                  <a:srgbClr val="FFFFFF"/>
                </a:solidFill>
                <a:latin typeface="Calibri"/>
              </a:rPr>
              <a:t>Hub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05840" y="4206240"/>
            <a:ext cx="2926080" cy="18288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400" b="0" i="0">
                <a:solidFill>
                  <a:srgbClr val="B6A8D3"/>
                </a:solidFill>
                <a:latin typeface="Calibri"/>
              </a:rPr>
              <a:t>Live-Status, Streamplan, Socials, Donations — alles an einer Stelle.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572000" y="2926080"/>
            <a:ext cx="3657600" cy="3108960"/>
          </a:xfrm>
          <a:prstGeom prst="roundRect">
            <a:avLst>
              <a:gd name="adj" fmla="val 10000"/>
            </a:avLst>
          </a:prstGeom>
          <a:solidFill>
            <a:srgbClr val="291E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Oval 12"/>
          <p:cNvSpPr/>
          <p:nvPr/>
        </p:nvSpPr>
        <p:spPr>
          <a:xfrm>
            <a:off x="4937760" y="3291840"/>
            <a:ext cx="502920" cy="502920"/>
          </a:xfrm>
          <a:prstGeom prst="ellipse">
            <a:avLst/>
          </a:prstGeom>
          <a:solidFill>
            <a:srgbClr val="9D4ED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4937760" y="3385544"/>
            <a:ext cx="502920" cy="5029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2000" b="1" i="0">
                <a:solidFill>
                  <a:srgbClr val="FFFFFF"/>
                </a:solidFill>
                <a:latin typeface="Calibri"/>
              </a:rPr>
              <a:t>C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669280" y="3337560"/>
            <a:ext cx="237744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2200" b="1" i="0">
                <a:solidFill>
                  <a:srgbClr val="FFFFFF"/>
                </a:solidFill>
                <a:latin typeface="Calibri"/>
              </a:rPr>
              <a:t>Community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937760" y="4206240"/>
            <a:ext cx="2926080" cy="18288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400" b="0" i="0">
                <a:solidFill>
                  <a:srgbClr val="B6A8D3"/>
                </a:solidFill>
                <a:latin typeface="Calibri"/>
              </a:rPr>
              <a:t>Clip-Voting, OnlyBart-Premiumbereich, Bartclicker, Twitch-Panel-Extension.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8503920" y="2926080"/>
            <a:ext cx="3657600" cy="3108960"/>
          </a:xfrm>
          <a:prstGeom prst="roundRect">
            <a:avLst>
              <a:gd name="adj" fmla="val 10000"/>
            </a:avLst>
          </a:prstGeom>
          <a:solidFill>
            <a:srgbClr val="291E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Oval 17"/>
          <p:cNvSpPr/>
          <p:nvPr/>
        </p:nvSpPr>
        <p:spPr>
          <a:xfrm>
            <a:off x="8869680" y="3291840"/>
            <a:ext cx="502920" cy="502920"/>
          </a:xfrm>
          <a:prstGeom prst="ellipse">
            <a:avLst/>
          </a:prstGeom>
          <a:solidFill>
            <a:srgbClr val="9D4ED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TextBox 18"/>
          <p:cNvSpPr txBox="1"/>
          <p:nvPr/>
        </p:nvSpPr>
        <p:spPr>
          <a:xfrm>
            <a:off x="8869680" y="3385544"/>
            <a:ext cx="502920" cy="5029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2000" b="1" i="0">
                <a:solidFill>
                  <a:srgbClr val="FFFFFF"/>
                </a:solidFill>
                <a:latin typeface="Calibri"/>
              </a:rPr>
              <a:t>B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601200" y="3337560"/>
            <a:ext cx="237744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2200" b="1" i="0">
                <a:solidFill>
                  <a:srgbClr val="FFFFFF"/>
                </a:solidFill>
                <a:latin typeface="Calibri"/>
              </a:rPr>
              <a:t>Baukasten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869680" y="4206240"/>
            <a:ext cx="2926080" cy="18288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400" b="0" i="0">
                <a:solidFill>
                  <a:srgbClr val="B6A8D3"/>
                </a:solidFill>
                <a:latin typeface="Calibri"/>
              </a:rPr>
              <a:t>Zwei Configs (siteConfig.ts + i18n) genügen für einen neuen Streamer.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1338560" y="6446520"/>
            <a:ext cx="73152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/>
            <a:r>
              <a:rPr sz="1000" b="0" i="0">
                <a:solidFill>
                  <a:srgbClr val="B6A8D3"/>
                </a:solidFill>
                <a:latin typeface="Calibri"/>
              </a:rPr>
              <a:t>4 / 9</a:t>
            </a:r>
          </a:p>
        </p:txBody>
      </p:sp>
    </p:spTree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F16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Oval 2"/>
          <p:cNvSpPr/>
          <p:nvPr/>
        </p:nvSpPr>
        <p:spPr>
          <a:xfrm>
            <a:off x="548640" y="566928"/>
            <a:ext cx="164592" cy="164592"/>
          </a:xfrm>
          <a:prstGeom prst="ellipse">
            <a:avLst/>
          </a:prstGeom>
          <a:solidFill>
            <a:srgbClr val="C77D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822960" y="551470"/>
            <a:ext cx="731520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200" b="1" i="0" dirty="0">
                <a:solidFill>
                  <a:srgbClr val="C77DFF"/>
                </a:solidFill>
                <a:latin typeface="Calibri"/>
              </a:rPr>
              <a:t>02  ·  TECH-STACK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914400"/>
            <a:ext cx="10058400" cy="615553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4000" b="1" i="0" dirty="0" err="1">
                <a:solidFill>
                  <a:srgbClr val="FFFFFF"/>
                </a:solidFill>
                <a:latin typeface="Calibri"/>
              </a:rPr>
              <a:t>Technologie</a:t>
            </a:r>
            <a:r>
              <a:rPr sz="4000" b="1" i="0" dirty="0">
                <a:solidFill>
                  <a:srgbClr val="FFFFFF"/>
                </a:solidFill>
                <a:latin typeface="Calibri"/>
              </a:rPr>
              <a:t>-Stack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40080" y="2377440"/>
            <a:ext cx="5212080" cy="1097280"/>
          </a:xfrm>
          <a:prstGeom prst="roundRect">
            <a:avLst>
              <a:gd name="adj" fmla="val 20000"/>
            </a:avLst>
          </a:prstGeom>
          <a:solidFill>
            <a:srgbClr val="291E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Oval 7"/>
          <p:cNvSpPr/>
          <p:nvPr/>
        </p:nvSpPr>
        <p:spPr>
          <a:xfrm>
            <a:off x="868680" y="2670048"/>
            <a:ext cx="502920" cy="502920"/>
          </a:xfrm>
          <a:prstGeom prst="ellipse">
            <a:avLst/>
          </a:prstGeom>
          <a:solidFill>
            <a:srgbClr val="9D4ED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868680" y="2773178"/>
            <a:ext cx="502920" cy="5029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1800" b="1" i="0">
                <a:solidFill>
                  <a:srgbClr val="FFFFFF"/>
                </a:solidFill>
                <a:latin typeface="Calibri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600200" y="2542032"/>
            <a:ext cx="411480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800" b="1" i="0">
                <a:solidFill>
                  <a:srgbClr val="FFFFFF"/>
                </a:solidFill>
                <a:latin typeface="Calibri"/>
              </a:rPr>
              <a:t>React 19 + TS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600200" y="2944368"/>
            <a:ext cx="411480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200" b="0" i="1">
                <a:solidFill>
                  <a:srgbClr val="B6A8D3"/>
                </a:solidFill>
                <a:latin typeface="Calibri"/>
              </a:rPr>
              <a:t>Frontend-Komponenten, strikte Typisierung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400800" y="2377440"/>
            <a:ext cx="5212080" cy="1097280"/>
          </a:xfrm>
          <a:prstGeom prst="roundRect">
            <a:avLst>
              <a:gd name="adj" fmla="val 20000"/>
            </a:avLst>
          </a:prstGeom>
          <a:solidFill>
            <a:srgbClr val="291E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Oval 12"/>
          <p:cNvSpPr/>
          <p:nvPr/>
        </p:nvSpPr>
        <p:spPr>
          <a:xfrm>
            <a:off x="6629400" y="2670048"/>
            <a:ext cx="502920" cy="502920"/>
          </a:xfrm>
          <a:prstGeom prst="ellipse">
            <a:avLst/>
          </a:prstGeom>
          <a:solidFill>
            <a:srgbClr val="9D4ED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6629400" y="2773178"/>
            <a:ext cx="502920" cy="5029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1800" b="1" i="0">
                <a:solidFill>
                  <a:srgbClr val="FFFFFF"/>
                </a:solidFill>
                <a:latin typeface="Calibri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360920" y="2542032"/>
            <a:ext cx="411480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800" b="1" i="0">
                <a:solidFill>
                  <a:srgbClr val="FFFFFF"/>
                </a:solidFill>
                <a:latin typeface="Calibri"/>
              </a:rPr>
              <a:t>Vite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360920" y="2944368"/>
            <a:ext cx="411480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200" b="0" i="1">
                <a:solidFill>
                  <a:srgbClr val="B6A8D3"/>
                </a:solidFill>
                <a:latin typeface="Calibri"/>
              </a:rPr>
              <a:t>Hot-Reload, Code-Splitting, Lazy-Routing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40080" y="3611880"/>
            <a:ext cx="5212080" cy="1097280"/>
          </a:xfrm>
          <a:prstGeom prst="roundRect">
            <a:avLst>
              <a:gd name="adj" fmla="val 20000"/>
            </a:avLst>
          </a:prstGeom>
          <a:solidFill>
            <a:srgbClr val="291E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Oval 17"/>
          <p:cNvSpPr/>
          <p:nvPr/>
        </p:nvSpPr>
        <p:spPr>
          <a:xfrm>
            <a:off x="868680" y="3904488"/>
            <a:ext cx="502920" cy="502920"/>
          </a:xfrm>
          <a:prstGeom prst="ellipse">
            <a:avLst/>
          </a:prstGeom>
          <a:solidFill>
            <a:srgbClr val="9D4ED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TextBox 18"/>
          <p:cNvSpPr txBox="1"/>
          <p:nvPr/>
        </p:nvSpPr>
        <p:spPr>
          <a:xfrm>
            <a:off x="868680" y="4007618"/>
            <a:ext cx="502920" cy="5029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1800" b="1" i="0">
                <a:solidFill>
                  <a:srgbClr val="FFFFFF"/>
                </a:solidFill>
                <a:latin typeface="Calibri"/>
              </a:rPr>
              <a:t>3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600200" y="3776472"/>
            <a:ext cx="411480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800" b="1" i="0">
                <a:solidFill>
                  <a:srgbClr val="FFFFFF"/>
                </a:solidFill>
                <a:latin typeface="Calibri"/>
              </a:rPr>
              <a:t>Supabase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600200" y="4178808"/>
            <a:ext cx="411480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200" b="0" i="1">
                <a:solidFill>
                  <a:srgbClr val="B6A8D3"/>
                </a:solidFill>
                <a:latin typeface="Calibri"/>
              </a:rPr>
              <a:t>Postgres, Auth, Realtime, Row Level Security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6400800" y="3611880"/>
            <a:ext cx="5212080" cy="1097280"/>
          </a:xfrm>
          <a:prstGeom prst="roundRect">
            <a:avLst>
              <a:gd name="adj" fmla="val 20000"/>
            </a:avLst>
          </a:prstGeom>
          <a:solidFill>
            <a:srgbClr val="291E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3" name="Oval 22"/>
          <p:cNvSpPr/>
          <p:nvPr/>
        </p:nvSpPr>
        <p:spPr>
          <a:xfrm>
            <a:off x="6629400" y="3904488"/>
            <a:ext cx="502920" cy="502920"/>
          </a:xfrm>
          <a:prstGeom prst="ellipse">
            <a:avLst/>
          </a:prstGeom>
          <a:solidFill>
            <a:srgbClr val="9D4ED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4" name="TextBox 23"/>
          <p:cNvSpPr txBox="1"/>
          <p:nvPr/>
        </p:nvSpPr>
        <p:spPr>
          <a:xfrm>
            <a:off x="6629400" y="4007618"/>
            <a:ext cx="502920" cy="5029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1800" b="1" i="0">
                <a:solidFill>
                  <a:srgbClr val="FFFFFF"/>
                </a:solidFill>
                <a:latin typeface="Calibri"/>
              </a:rPr>
              <a:t>4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360920" y="3776472"/>
            <a:ext cx="4114800" cy="276999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800" b="1" i="0" dirty="0">
                <a:solidFill>
                  <a:srgbClr val="FFFFFF"/>
                </a:solidFill>
                <a:latin typeface="Calibri"/>
              </a:rPr>
              <a:t>Bun</a:t>
            </a:r>
            <a:r>
              <a:rPr lang="de-DE" sz="1800" b="1" i="0" dirty="0">
                <a:solidFill>
                  <a:srgbClr val="FFFFFF"/>
                </a:solidFill>
                <a:latin typeface="Calibri"/>
              </a:rPr>
              <a:t> lokal</a:t>
            </a:r>
            <a:endParaRPr sz="1800" b="1" i="0" dirty="0">
              <a:solidFill>
                <a:srgbClr val="FFFFFF"/>
              </a:solidFill>
              <a:latin typeface="Calibri"/>
            </a:endParaRPr>
          </a:p>
        </p:txBody>
      </p:sp>
      <p:sp>
        <p:nvSpPr>
          <p:cNvPr id="26" name="TextBox 25"/>
          <p:cNvSpPr txBox="1"/>
          <p:nvPr/>
        </p:nvSpPr>
        <p:spPr>
          <a:xfrm>
            <a:off x="7360920" y="4178808"/>
            <a:ext cx="411480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200" b="0" i="1">
                <a:solidFill>
                  <a:srgbClr val="B6A8D3"/>
                </a:solidFill>
                <a:latin typeface="Calibri"/>
              </a:rPr>
              <a:t>TwitchAddon (Channel-Points-Bot, ~64 MB RAM)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640080" y="4846320"/>
            <a:ext cx="5212080" cy="1097280"/>
          </a:xfrm>
          <a:prstGeom prst="roundRect">
            <a:avLst>
              <a:gd name="adj" fmla="val 20000"/>
            </a:avLst>
          </a:prstGeom>
          <a:solidFill>
            <a:srgbClr val="291E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8" name="Oval 27"/>
          <p:cNvSpPr/>
          <p:nvPr/>
        </p:nvSpPr>
        <p:spPr>
          <a:xfrm>
            <a:off x="868680" y="5138928"/>
            <a:ext cx="502920" cy="502920"/>
          </a:xfrm>
          <a:prstGeom prst="ellipse">
            <a:avLst/>
          </a:prstGeom>
          <a:solidFill>
            <a:srgbClr val="9D4ED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9" name="TextBox 28"/>
          <p:cNvSpPr txBox="1"/>
          <p:nvPr/>
        </p:nvSpPr>
        <p:spPr>
          <a:xfrm>
            <a:off x="868680" y="5242058"/>
            <a:ext cx="502920" cy="5029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1800" b="1" i="0">
                <a:solidFill>
                  <a:srgbClr val="FFFFFF"/>
                </a:solidFill>
                <a:latin typeface="Calibri"/>
              </a:rPr>
              <a:t>5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600200" y="5010912"/>
            <a:ext cx="411480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800" b="1" i="0">
                <a:solidFill>
                  <a:srgbClr val="FFFFFF"/>
                </a:solidFill>
                <a:latin typeface="Calibri"/>
              </a:rPr>
              <a:t>Node + discord.js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600200" y="5413248"/>
            <a:ext cx="411480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200" b="0" i="1">
                <a:solidFill>
                  <a:srgbClr val="B6A8D3"/>
                </a:solidFill>
                <a:latin typeface="Calibri"/>
              </a:rPr>
              <a:t>DiscordBot — Webhooks aus der DB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6400800" y="4846320"/>
            <a:ext cx="5212080" cy="1097280"/>
          </a:xfrm>
          <a:prstGeom prst="roundRect">
            <a:avLst>
              <a:gd name="adj" fmla="val 20000"/>
            </a:avLst>
          </a:prstGeom>
          <a:solidFill>
            <a:srgbClr val="291E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3" name="Oval 32"/>
          <p:cNvSpPr/>
          <p:nvPr/>
        </p:nvSpPr>
        <p:spPr>
          <a:xfrm>
            <a:off x="6629400" y="5138928"/>
            <a:ext cx="502920" cy="502920"/>
          </a:xfrm>
          <a:prstGeom prst="ellipse">
            <a:avLst/>
          </a:prstGeom>
          <a:solidFill>
            <a:srgbClr val="9D4ED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4" name="TextBox 33"/>
          <p:cNvSpPr txBox="1"/>
          <p:nvPr/>
        </p:nvSpPr>
        <p:spPr>
          <a:xfrm>
            <a:off x="6629400" y="5242058"/>
            <a:ext cx="502920" cy="5029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1800" b="1" i="0">
                <a:solidFill>
                  <a:srgbClr val="FFFFFF"/>
                </a:solidFill>
                <a:latin typeface="Calibri"/>
              </a:rPr>
              <a:t>6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7360920" y="5010912"/>
            <a:ext cx="411480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800" b="1" i="0">
                <a:solidFill>
                  <a:srgbClr val="FFFFFF"/>
                </a:solidFill>
                <a:latin typeface="Calibri"/>
              </a:rPr>
              <a:t>Docker + Nginx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7360920" y="5413248"/>
            <a:ext cx="411480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200" b="0" i="1">
                <a:solidFill>
                  <a:srgbClr val="B6A8D3"/>
                </a:solidFill>
                <a:latin typeface="Calibri"/>
              </a:rPr>
              <a:t>Reproduzierbares Hosting, GitHub Actions CI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11338560" y="6446520"/>
            <a:ext cx="73152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/>
            <a:r>
              <a:rPr sz="1000" b="0" i="0">
                <a:solidFill>
                  <a:srgbClr val="B6A8D3"/>
                </a:solidFill>
                <a:latin typeface="Calibri"/>
              </a:rPr>
              <a:t>5 / 9</a:t>
            </a:r>
          </a:p>
        </p:txBody>
      </p:sp>
    </p:spTree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305" y="-9526"/>
            <a:ext cx="12191695" cy="6995160"/>
          </a:xfrm>
          <a:prstGeom prst="rect">
            <a:avLst/>
          </a:prstGeom>
          <a:solidFill>
            <a:srgbClr val="1F16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548640" y="228600"/>
            <a:ext cx="9144000" cy="4114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200" b="1" i="0">
                <a:solidFill>
                  <a:srgbClr val="C77DFF"/>
                </a:solidFill>
                <a:latin typeface="Calibri"/>
              </a:rPr>
              <a:t>02  ·  ARCHITEKTUR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457200"/>
            <a:ext cx="914400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800" b="1" i="0">
                <a:solidFill>
                  <a:srgbClr val="FFFFFF"/>
                </a:solidFill>
                <a:latin typeface="Calibri"/>
              </a:rPr>
              <a:t>Systemarchitektur — vier entkoppelte Bausteine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6446520"/>
            <a:ext cx="11064240" cy="169277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1100" b="0" i="1" dirty="0">
                <a:solidFill>
                  <a:srgbClr val="C77DFF"/>
                </a:solidFill>
                <a:latin typeface="Calibri"/>
              </a:rPr>
              <a:t>Frontend ↔ </a:t>
            </a:r>
            <a:r>
              <a:rPr sz="1100" b="0" i="1" dirty="0" err="1">
                <a:solidFill>
                  <a:srgbClr val="C77DFF"/>
                </a:solidFill>
                <a:latin typeface="Calibri"/>
              </a:rPr>
              <a:t>Supabase</a:t>
            </a:r>
            <a:r>
              <a:rPr sz="1100" b="0" i="1" dirty="0">
                <a:solidFill>
                  <a:srgbClr val="C77DFF"/>
                </a:solidFill>
                <a:latin typeface="Calibri"/>
              </a:rPr>
              <a:t>  ·  </a:t>
            </a:r>
            <a:r>
              <a:rPr sz="1100" b="0" i="1" dirty="0" err="1">
                <a:solidFill>
                  <a:srgbClr val="C77DFF"/>
                </a:solidFill>
                <a:latin typeface="Calibri"/>
              </a:rPr>
              <a:t>TwitchAddon</a:t>
            </a:r>
            <a:r>
              <a:rPr sz="1100" b="0" i="1" dirty="0">
                <a:solidFill>
                  <a:srgbClr val="C77DFF"/>
                </a:solidFill>
                <a:latin typeface="Calibri"/>
              </a:rPr>
              <a:t> (Bun</a:t>
            </a:r>
            <a:r>
              <a:rPr lang="de-DE" sz="1100" b="0" i="1" dirty="0">
                <a:solidFill>
                  <a:srgbClr val="C77DFF"/>
                </a:solidFill>
                <a:latin typeface="Calibri"/>
              </a:rPr>
              <a:t>) </a:t>
            </a:r>
            <a:r>
              <a:rPr sz="1100" b="0" i="1" dirty="0">
                <a:solidFill>
                  <a:srgbClr val="C77DFF"/>
                </a:solidFill>
                <a:latin typeface="Calibri"/>
              </a:rPr>
              <a:t>·  </a:t>
            </a:r>
            <a:r>
              <a:rPr sz="1100" b="0" i="1" dirty="0" err="1">
                <a:solidFill>
                  <a:srgbClr val="C77DFF"/>
                </a:solidFill>
                <a:latin typeface="Calibri"/>
              </a:rPr>
              <a:t>DiscordBot</a:t>
            </a:r>
            <a:r>
              <a:rPr sz="1100" b="0" i="1" dirty="0">
                <a:solidFill>
                  <a:srgbClr val="C77DFF"/>
                </a:solidFill>
                <a:latin typeface="Calibri"/>
              </a:rPr>
              <a:t> (Render)  ·  </a:t>
            </a:r>
            <a:r>
              <a:rPr sz="1100" b="0" i="1" dirty="0" err="1">
                <a:solidFill>
                  <a:srgbClr val="C77DFF"/>
                </a:solidFill>
                <a:latin typeface="Calibri"/>
              </a:rPr>
              <a:t>pg_net</a:t>
            </a:r>
            <a:r>
              <a:rPr sz="1100" b="0" i="1" dirty="0">
                <a:solidFill>
                  <a:srgbClr val="C77DFF"/>
                </a:solidFill>
                <a:latin typeface="Calibri"/>
              </a:rPr>
              <a:t> Webhooks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338560" y="6446520"/>
            <a:ext cx="73152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/>
            <a:r>
              <a:rPr sz="1000" b="0" i="0">
                <a:solidFill>
                  <a:srgbClr val="B6A8D3"/>
                </a:solidFill>
                <a:latin typeface="Calibri"/>
              </a:rPr>
              <a:t>6 / 9</a:t>
            </a:r>
          </a:p>
        </p:txBody>
      </p:sp>
      <p:pic>
        <p:nvPicPr>
          <p:cNvPr id="10" name="Grafik 9">
            <a:extLst>
              <a:ext uri="{FF2B5EF4-FFF2-40B4-BE49-F238E27FC236}">
                <a16:creationId xmlns:a16="http://schemas.microsoft.com/office/drawing/2014/main" id="{4BF36726-2D46-19DB-8C31-62134100B28E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746158" y="3914777"/>
            <a:ext cx="168269" cy="71457"/>
          </a:xfrm>
          <a:prstGeom prst="rect">
            <a:avLst/>
          </a:prstGeom>
        </p:spPr>
      </p:pic>
      <p:sp>
        <p:nvSpPr>
          <p:cNvPr id="14" name="AutoShape 2">
            <a:extLst>
              <a:ext uri="{FF2B5EF4-FFF2-40B4-BE49-F238E27FC236}">
                <a16:creationId xmlns:a16="http://schemas.microsoft.com/office/drawing/2014/main" id="{B7BA2CE0-A3C3-43CF-AFDE-4960513DBBF9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5943600" y="3276600"/>
            <a:ext cx="304800" cy="3048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de-DE"/>
          </a:p>
        </p:txBody>
      </p:sp>
      <p:sp>
        <p:nvSpPr>
          <p:cNvPr id="15" name="AutoShape 4">
            <a:extLst>
              <a:ext uri="{FF2B5EF4-FFF2-40B4-BE49-F238E27FC236}">
                <a16:creationId xmlns:a16="http://schemas.microsoft.com/office/drawing/2014/main" id="{3A9D0566-524C-40F1-9D89-8F237246A7FE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6096000" y="3429000"/>
            <a:ext cx="304800" cy="3048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de-DE"/>
          </a:p>
        </p:txBody>
      </p:sp>
      <p:pic>
        <p:nvPicPr>
          <p:cNvPr id="19" name="Grafik 18">
            <a:extLst>
              <a:ext uri="{FF2B5EF4-FFF2-40B4-BE49-F238E27FC236}">
                <a16:creationId xmlns:a16="http://schemas.microsoft.com/office/drawing/2014/main" id="{13A85422-850C-428D-8575-7BCCE9341F70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BEBA8EAE-BF5A-486C-A8C5-ECC9F3942E4B}">
                <a14:imgProps xmlns:a14="http://schemas.microsoft.com/office/drawing/2010/main">
                  <a14:imgLayer r:embed="rId5">
                    <a14:imgEffect>
                      <a14:sharpenSoften amount="-100000"/>
                    </a14:imgEffect>
                    <a14:imgEffect>
                      <a14:colorTemperature colorTemp="6300"/>
                    </a14:imgEffect>
                    <a14:imgEffect>
                      <a14:saturation sat="400000"/>
                    </a14:imgEffect>
                  </a14:imgLayer>
                </a14:imgProps>
              </a:ext>
            </a:extLst>
          </a:blip>
          <a:stretch>
            <a:fillRect/>
          </a:stretch>
        </p:blipFill>
        <p:spPr>
          <a:xfrm>
            <a:off x="3374592" y="1078345"/>
            <a:ext cx="5572125" cy="6858000"/>
          </a:xfrm>
          <a:prstGeom prst="rect">
            <a:avLst/>
          </a:prstGeom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</p:pic>
      <p:pic>
        <p:nvPicPr>
          <p:cNvPr id="18" name="Grafik 17">
            <a:extLst>
              <a:ext uri="{FF2B5EF4-FFF2-40B4-BE49-F238E27FC236}">
                <a16:creationId xmlns:a16="http://schemas.microsoft.com/office/drawing/2014/main" id="{F676F69B-AE43-4435-9BD6-83BD2E379C8D}"/>
              </a:ext>
            </a:extLst>
          </p:cNvPr>
          <p:cNvPicPr>
            <a:picLocks noChangeAspect="1"/>
          </p:cNvPicPr>
          <p:nvPr/>
        </p:nvPicPr>
        <p:blipFill>
          <a:blip r:embed="rId6">
            <a:extLst>
              <a:ext uri="{BEBA8EAE-BF5A-486C-A8C5-ECC9F3942E4B}">
                <a14:imgProps xmlns:a14="http://schemas.microsoft.com/office/drawing/2010/main">
                  <a14:imgLayer r:embed="rId5">
                    <a14:imgEffect>
                      <a14:brightnessContrast bright="-1000" contrast="-33000"/>
                    </a14:imgEffect>
                  </a14:imgLayer>
                </a14:imgProps>
              </a:ext>
            </a:extLst>
          </a:blip>
          <a:stretch>
            <a:fillRect/>
          </a:stretch>
        </p:blipFill>
        <p:spPr>
          <a:xfrm>
            <a:off x="3388593" y="1071706"/>
            <a:ext cx="5572125" cy="6858000"/>
          </a:xfrm>
          <a:prstGeom prst="rect">
            <a:avLst/>
          </a:prstGeom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</p:pic>
      <p:pic>
        <p:nvPicPr>
          <p:cNvPr id="6" name="Grafik 5">
            <a:extLst>
              <a:ext uri="{FF2B5EF4-FFF2-40B4-BE49-F238E27FC236}">
                <a16:creationId xmlns:a16="http://schemas.microsoft.com/office/drawing/2014/main" id="{A770D5FC-BA17-4E8B-BB00-58F515E6839F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8020018" y="4000521"/>
            <a:ext cx="457264" cy="171474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-1906" y="3586"/>
            <a:ext cx="12191695" cy="6854414"/>
          </a:xfrm>
          <a:prstGeom prst="rect">
            <a:avLst/>
          </a:prstGeom>
          <a:solidFill>
            <a:srgbClr val="1F16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dirty="0"/>
          </a:p>
        </p:txBody>
      </p:sp>
      <p:sp>
        <p:nvSpPr>
          <p:cNvPr id="3" name="Oval 2"/>
          <p:cNvSpPr/>
          <p:nvPr/>
        </p:nvSpPr>
        <p:spPr>
          <a:xfrm>
            <a:off x="640080" y="640080"/>
            <a:ext cx="228600" cy="228600"/>
          </a:xfrm>
          <a:prstGeom prst="ellipse">
            <a:avLst/>
          </a:prstGeom>
          <a:solidFill>
            <a:srgbClr val="E539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960120" y="652336"/>
            <a:ext cx="274320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200" b="1" i="0" dirty="0">
                <a:solidFill>
                  <a:srgbClr val="FFFFFF"/>
                </a:solidFill>
                <a:latin typeface="Calibri"/>
              </a:rPr>
              <a:t>LIVE-DEMO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1463040"/>
            <a:ext cx="6400800" cy="196977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6400" b="1" i="0" dirty="0">
                <a:solidFill>
                  <a:srgbClr val="FFFFFF"/>
                </a:solidFill>
                <a:latin typeface="Calibri"/>
              </a:rPr>
              <a:t>Live-
Demonstration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0" y="1371600"/>
            <a:ext cx="4297680" cy="777240"/>
          </a:xfrm>
          <a:prstGeom prst="roundRect">
            <a:avLst>
              <a:gd name="adj" fmla="val 25000"/>
            </a:avLst>
          </a:prstGeom>
          <a:solidFill>
            <a:srgbClr val="291E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Oval 7"/>
          <p:cNvSpPr/>
          <p:nvPr/>
        </p:nvSpPr>
        <p:spPr>
          <a:xfrm>
            <a:off x="7498080" y="1554480"/>
            <a:ext cx="411480" cy="411480"/>
          </a:xfrm>
          <a:prstGeom prst="ellipse">
            <a:avLst/>
          </a:prstGeom>
          <a:solidFill>
            <a:srgbClr val="9D4ED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7498080" y="1648467"/>
            <a:ext cx="411480" cy="4114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1400" b="1" i="0" dirty="0">
                <a:solidFill>
                  <a:srgbClr val="FFFFFF"/>
                </a:solidFill>
                <a:latin typeface="Calibri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092440" y="1463040"/>
            <a:ext cx="338328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500" b="1" i="0">
                <a:solidFill>
                  <a:srgbClr val="FFFFFF"/>
                </a:solidFill>
                <a:latin typeface="Calibri"/>
              </a:rPr>
              <a:t>Landingpage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092440" y="1783080"/>
            <a:ext cx="338328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100" b="0" i="1">
                <a:solidFill>
                  <a:srgbClr val="B6A8D3"/>
                </a:solidFill>
                <a:latin typeface="Calibri"/>
              </a:rPr>
              <a:t>Hero, Live-Section, Streamplan, Links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7315200" y="2258568"/>
            <a:ext cx="4297680" cy="777240"/>
          </a:xfrm>
          <a:prstGeom prst="roundRect">
            <a:avLst>
              <a:gd name="adj" fmla="val 25000"/>
            </a:avLst>
          </a:prstGeom>
          <a:solidFill>
            <a:srgbClr val="291E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Oval 12"/>
          <p:cNvSpPr/>
          <p:nvPr/>
        </p:nvSpPr>
        <p:spPr>
          <a:xfrm>
            <a:off x="7498080" y="2441448"/>
            <a:ext cx="411480" cy="411480"/>
          </a:xfrm>
          <a:prstGeom prst="ellipse">
            <a:avLst/>
          </a:prstGeom>
          <a:solidFill>
            <a:srgbClr val="9D4ED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7498080" y="2535435"/>
            <a:ext cx="411480" cy="4114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1400" b="1" i="0" dirty="0">
                <a:solidFill>
                  <a:srgbClr val="FFFFFF"/>
                </a:solidFill>
                <a:latin typeface="Calibri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092440" y="2350008"/>
            <a:ext cx="3383280" cy="2308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lang="de-DE" sz="1500" b="1" i="0" dirty="0">
                <a:solidFill>
                  <a:srgbClr val="FFFFFF"/>
                </a:solidFill>
                <a:latin typeface="Calibri"/>
              </a:rPr>
              <a:t>C</a:t>
            </a:r>
            <a:r>
              <a:rPr sz="1500" b="1" i="0" dirty="0">
                <a:solidFill>
                  <a:srgbClr val="FFFFFF"/>
                </a:solidFill>
                <a:latin typeface="Calibri"/>
              </a:rPr>
              <a:t>licker</a:t>
            </a:r>
            <a:r>
              <a:rPr lang="de-DE" sz="1500" b="1" i="0" dirty="0">
                <a:solidFill>
                  <a:srgbClr val="FFFFFF"/>
                </a:solidFill>
                <a:latin typeface="Calibri"/>
              </a:rPr>
              <a:t>-Game</a:t>
            </a:r>
            <a:endParaRPr sz="1500" b="1" i="0" dirty="0">
              <a:solidFill>
                <a:srgbClr val="FFFFFF"/>
              </a:solidFill>
              <a:latin typeface="Calibri"/>
            </a:endParaRPr>
          </a:p>
        </p:txBody>
      </p:sp>
      <p:sp>
        <p:nvSpPr>
          <p:cNvPr id="16" name="TextBox 15"/>
          <p:cNvSpPr txBox="1"/>
          <p:nvPr/>
        </p:nvSpPr>
        <p:spPr>
          <a:xfrm>
            <a:off x="8092440" y="2670048"/>
            <a:ext cx="338328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100" b="0" i="1">
                <a:solidFill>
                  <a:srgbClr val="B6A8D3"/>
                </a:solidFill>
                <a:latin typeface="Calibri"/>
              </a:rPr>
              <a:t>Mini-Spiel + Highscores via Supabase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7315200" y="3145536"/>
            <a:ext cx="4297680" cy="777240"/>
          </a:xfrm>
          <a:prstGeom prst="roundRect">
            <a:avLst>
              <a:gd name="adj" fmla="val 25000"/>
            </a:avLst>
          </a:prstGeom>
          <a:solidFill>
            <a:srgbClr val="291E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Oval 17"/>
          <p:cNvSpPr/>
          <p:nvPr/>
        </p:nvSpPr>
        <p:spPr>
          <a:xfrm>
            <a:off x="7498080" y="3328416"/>
            <a:ext cx="411480" cy="411480"/>
          </a:xfrm>
          <a:prstGeom prst="ellipse">
            <a:avLst/>
          </a:prstGeom>
          <a:solidFill>
            <a:srgbClr val="9D4ED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TextBox 18"/>
          <p:cNvSpPr txBox="1"/>
          <p:nvPr/>
        </p:nvSpPr>
        <p:spPr>
          <a:xfrm>
            <a:off x="7498080" y="3422403"/>
            <a:ext cx="411480" cy="4114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3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092440" y="3236976"/>
            <a:ext cx="338328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500" b="1" i="0">
                <a:solidFill>
                  <a:srgbClr val="FFFFFF"/>
                </a:solidFill>
                <a:latin typeface="Calibri"/>
              </a:rPr>
              <a:t>Clip-Voting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092440" y="3557016"/>
            <a:ext cx="338328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100" b="0" i="1">
                <a:solidFill>
                  <a:srgbClr val="B6A8D3"/>
                </a:solidFill>
                <a:latin typeface="Calibri"/>
              </a:rPr>
              <a:t>Twitch-Login, Voten, Realtime-Updates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7315200" y="4032504"/>
            <a:ext cx="4297680" cy="777240"/>
          </a:xfrm>
          <a:prstGeom prst="roundRect">
            <a:avLst>
              <a:gd name="adj" fmla="val 25000"/>
            </a:avLst>
          </a:prstGeom>
          <a:solidFill>
            <a:srgbClr val="291E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3" name="Oval 22"/>
          <p:cNvSpPr/>
          <p:nvPr/>
        </p:nvSpPr>
        <p:spPr>
          <a:xfrm>
            <a:off x="7498080" y="4215384"/>
            <a:ext cx="411480" cy="411480"/>
          </a:xfrm>
          <a:prstGeom prst="ellipse">
            <a:avLst/>
          </a:prstGeom>
          <a:solidFill>
            <a:srgbClr val="9D4ED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4" name="TextBox 23"/>
          <p:cNvSpPr txBox="1"/>
          <p:nvPr/>
        </p:nvSpPr>
        <p:spPr>
          <a:xfrm>
            <a:off x="7498080" y="4309371"/>
            <a:ext cx="411480" cy="4114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4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092440" y="4123944"/>
            <a:ext cx="3383280" cy="2308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lang="de-DE" sz="1500" b="1" i="0" dirty="0">
                <a:solidFill>
                  <a:srgbClr val="FFFFFF"/>
                </a:solidFill>
                <a:latin typeface="Calibri"/>
              </a:rPr>
              <a:t>Premium-Bereich</a:t>
            </a:r>
            <a:endParaRPr sz="1500" b="1" i="0" dirty="0">
              <a:solidFill>
                <a:srgbClr val="FFFFFF"/>
              </a:solidFill>
              <a:latin typeface="Calibri"/>
            </a:endParaRPr>
          </a:p>
        </p:txBody>
      </p:sp>
      <p:sp>
        <p:nvSpPr>
          <p:cNvPr id="26" name="TextBox 25"/>
          <p:cNvSpPr txBox="1"/>
          <p:nvPr/>
        </p:nvSpPr>
        <p:spPr>
          <a:xfrm>
            <a:off x="8092440" y="4443984"/>
            <a:ext cx="338328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100" b="0" i="1">
                <a:solidFill>
                  <a:srgbClr val="B6A8D3"/>
                </a:solidFill>
                <a:latin typeface="Calibri"/>
              </a:rPr>
              <a:t>Geschützter Subscriber-Bereich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7315200" y="4919472"/>
            <a:ext cx="4297680" cy="777240"/>
          </a:xfrm>
          <a:prstGeom prst="roundRect">
            <a:avLst>
              <a:gd name="adj" fmla="val 25000"/>
            </a:avLst>
          </a:prstGeom>
          <a:solidFill>
            <a:srgbClr val="291E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8" name="Oval 27"/>
          <p:cNvSpPr/>
          <p:nvPr/>
        </p:nvSpPr>
        <p:spPr>
          <a:xfrm>
            <a:off x="7498080" y="5102352"/>
            <a:ext cx="411480" cy="411480"/>
          </a:xfrm>
          <a:prstGeom prst="ellipse">
            <a:avLst/>
          </a:prstGeom>
          <a:solidFill>
            <a:srgbClr val="9D4ED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9" name="TextBox 28"/>
          <p:cNvSpPr txBox="1"/>
          <p:nvPr/>
        </p:nvSpPr>
        <p:spPr>
          <a:xfrm>
            <a:off x="7498080" y="5196339"/>
            <a:ext cx="411480" cy="4114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5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8092440" y="5010912"/>
            <a:ext cx="338328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500" b="1" i="0">
                <a:solidFill>
                  <a:srgbClr val="FFFFFF"/>
                </a:solidFill>
                <a:latin typeface="Calibri"/>
              </a:rPr>
              <a:t>Mod-Dashboard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8092440" y="5330952"/>
            <a:ext cx="338328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100" b="0" i="1">
                <a:solidFill>
                  <a:srgbClr val="B6A8D3"/>
                </a:solidFill>
                <a:latin typeface="Calibri"/>
              </a:rPr>
              <a:t>Voting verwalten, Statistiken, Trigger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7315200" y="5806440"/>
            <a:ext cx="4297680" cy="777240"/>
          </a:xfrm>
          <a:prstGeom prst="roundRect">
            <a:avLst>
              <a:gd name="adj" fmla="val 25000"/>
            </a:avLst>
          </a:prstGeom>
          <a:solidFill>
            <a:srgbClr val="291E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3" name="Oval 32"/>
          <p:cNvSpPr/>
          <p:nvPr/>
        </p:nvSpPr>
        <p:spPr>
          <a:xfrm>
            <a:off x="7498080" y="5989320"/>
            <a:ext cx="411480" cy="411480"/>
          </a:xfrm>
          <a:prstGeom prst="ellipse">
            <a:avLst/>
          </a:prstGeom>
          <a:solidFill>
            <a:srgbClr val="9D4ED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4" name="TextBox 33"/>
          <p:cNvSpPr txBox="1"/>
          <p:nvPr/>
        </p:nvSpPr>
        <p:spPr>
          <a:xfrm>
            <a:off x="7498080" y="6083307"/>
            <a:ext cx="411480" cy="4114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6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8092440" y="5897880"/>
            <a:ext cx="338328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500" b="1" i="0">
                <a:solidFill>
                  <a:srgbClr val="FFFFFF"/>
                </a:solidFill>
                <a:latin typeface="Calibri"/>
              </a:rPr>
              <a:t>TwitchAddon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8092440" y="6217920"/>
            <a:ext cx="338328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100" b="0" i="1">
                <a:solidFill>
                  <a:srgbClr val="B6A8D3"/>
                </a:solidFill>
                <a:latin typeface="Calibri"/>
              </a:rPr>
              <a:t>Channel-Points-Belohnungen im Chat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640080" y="6080760"/>
            <a:ext cx="6400800" cy="276999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800" b="1" i="0" dirty="0">
                <a:solidFill>
                  <a:srgbClr val="C77DFF"/>
                </a:solidFill>
                <a:latin typeface="Calibri"/>
              </a:rPr>
              <a:t>→ </a:t>
            </a:r>
            <a:r>
              <a:rPr sz="1800" b="1" i="0" dirty="0">
                <a:solidFill>
                  <a:srgbClr val="C77DFF"/>
                </a:solidFill>
                <a:latin typeface="Calibri"/>
                <a:hlinkClick r:id="rId2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www.hd1920x1080.d</a:t>
            </a:r>
            <a:r>
              <a:rPr lang="de-DE" sz="1800" b="1" i="0" dirty="0">
                <a:solidFill>
                  <a:srgbClr val="C77DFF"/>
                </a:solidFill>
                <a:latin typeface="Calibri"/>
                <a:hlinkClick r:id="rId2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e</a:t>
            </a:r>
            <a:r>
              <a:rPr lang="de-DE" sz="1800" b="1" i="0" dirty="0">
                <a:solidFill>
                  <a:srgbClr val="C77DFF"/>
                </a:solidFill>
                <a:latin typeface="Calibri"/>
              </a:rPr>
              <a:t> </a:t>
            </a:r>
            <a:endParaRPr sz="1800" b="1" i="0" dirty="0">
              <a:solidFill>
                <a:srgbClr val="C77DFF"/>
              </a:solidFill>
              <a:latin typeface="Calibri"/>
            </a:endParaRPr>
          </a:p>
        </p:txBody>
      </p:sp>
      <p:sp>
        <p:nvSpPr>
          <p:cNvPr id="38" name="TextBox 37"/>
          <p:cNvSpPr txBox="1"/>
          <p:nvPr/>
        </p:nvSpPr>
        <p:spPr>
          <a:xfrm>
            <a:off x="11338560" y="6446520"/>
            <a:ext cx="73152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/>
            <a:r>
              <a:rPr sz="1000" b="0" i="0">
                <a:solidFill>
                  <a:srgbClr val="B6A8D3"/>
                </a:solidFill>
                <a:latin typeface="Calibri"/>
              </a:rPr>
              <a:t>7 / 9</a:t>
            </a:r>
          </a:p>
        </p:txBody>
      </p:sp>
      <p:sp>
        <p:nvSpPr>
          <p:cNvPr id="39" name="AutoShape 2">
            <a:extLst>
              <a:ext uri="{FF2B5EF4-FFF2-40B4-BE49-F238E27FC236}">
                <a16:creationId xmlns:a16="http://schemas.microsoft.com/office/drawing/2014/main" id="{4FE8BAB0-5336-4B2B-8423-49677119C7DA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5943600" y="3276600"/>
            <a:ext cx="304800" cy="3048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de-DE"/>
          </a:p>
        </p:txBody>
      </p:sp>
      <p:sp>
        <p:nvSpPr>
          <p:cNvPr id="40" name="AutoShape 4">
            <a:extLst>
              <a:ext uri="{FF2B5EF4-FFF2-40B4-BE49-F238E27FC236}">
                <a16:creationId xmlns:a16="http://schemas.microsoft.com/office/drawing/2014/main" id="{922EFC10-8D70-4E0A-8921-D4C13D87603C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6095999" y="3428999"/>
            <a:ext cx="3777673" cy="377767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de-DE"/>
          </a:p>
        </p:txBody>
      </p:sp>
      <p:pic>
        <p:nvPicPr>
          <p:cNvPr id="42" name="Grafik 41">
            <a:extLst>
              <a:ext uri="{FF2B5EF4-FFF2-40B4-BE49-F238E27FC236}">
                <a16:creationId xmlns:a16="http://schemas.microsoft.com/office/drawing/2014/main" id="{D7522987-BF1A-4E62-A62D-11CDC52D0CBC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627325" y="4013718"/>
            <a:ext cx="2725907" cy="2725907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F16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Oval 2"/>
          <p:cNvSpPr/>
          <p:nvPr/>
        </p:nvSpPr>
        <p:spPr>
          <a:xfrm>
            <a:off x="548640" y="566928"/>
            <a:ext cx="164592" cy="164592"/>
          </a:xfrm>
          <a:prstGeom prst="ellipse">
            <a:avLst/>
          </a:prstGeom>
          <a:solidFill>
            <a:srgbClr val="C77D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822960" y="551470"/>
            <a:ext cx="731520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200" b="1" i="0" dirty="0">
                <a:solidFill>
                  <a:srgbClr val="C77DFF"/>
                </a:solidFill>
                <a:latin typeface="Calibri"/>
              </a:rPr>
              <a:t>03  ·  TECHNISCHE HIGHLIGHTS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914400"/>
            <a:ext cx="10058400" cy="55399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3600" b="1" i="0" dirty="0">
                <a:solidFill>
                  <a:srgbClr val="FFFFFF"/>
                </a:solidFill>
                <a:latin typeface="Calibri"/>
              </a:rPr>
              <a:t>Highlights und </a:t>
            </a:r>
            <a:r>
              <a:rPr sz="3600" b="1" i="0" dirty="0" err="1">
                <a:solidFill>
                  <a:srgbClr val="FFFFFF"/>
                </a:solidFill>
                <a:latin typeface="Calibri"/>
              </a:rPr>
              <a:t>Herausforderungen</a:t>
            </a:r>
            <a:endParaRPr sz="3600" b="1" i="0" dirty="0">
              <a:solidFill>
                <a:srgbClr val="FFFFFF"/>
              </a:solidFill>
              <a:latin typeface="Calibri"/>
            </a:endParaRPr>
          </a:p>
        </p:txBody>
      </p:sp>
      <p:sp>
        <p:nvSpPr>
          <p:cNvPr id="6" name="Rounded Rectangle 5"/>
          <p:cNvSpPr/>
          <p:nvPr/>
        </p:nvSpPr>
        <p:spPr>
          <a:xfrm>
            <a:off x="640080" y="2286000"/>
            <a:ext cx="5394960" cy="4023360"/>
          </a:xfrm>
          <a:prstGeom prst="roundRect">
            <a:avLst>
              <a:gd name="adj" fmla="val 5000"/>
            </a:avLst>
          </a:prstGeom>
          <a:solidFill>
            <a:srgbClr val="291E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914400" y="2468880"/>
            <a:ext cx="493776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2000" b="1" i="0">
                <a:solidFill>
                  <a:srgbClr val="C77DFF"/>
                </a:solidFill>
                <a:latin typeface="Calibri"/>
              </a:rPr>
              <a:t>Highlights</a:t>
            </a:r>
          </a:p>
        </p:txBody>
      </p:sp>
      <p:sp>
        <p:nvSpPr>
          <p:cNvPr id="8" name="Oval 7"/>
          <p:cNvSpPr/>
          <p:nvPr/>
        </p:nvSpPr>
        <p:spPr>
          <a:xfrm>
            <a:off x="914400" y="3034792"/>
            <a:ext cx="164592" cy="164592"/>
          </a:xfrm>
          <a:prstGeom prst="ellipse">
            <a:avLst/>
          </a:prstGeom>
          <a:solidFill>
            <a:srgbClr val="C77D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1188720" y="3017520"/>
            <a:ext cx="466344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400" b="0" i="0">
                <a:solidFill>
                  <a:srgbClr val="FFFFFF"/>
                </a:solidFill>
                <a:latin typeface="Calibri"/>
              </a:rPr>
              <a:t>Row Level Security statt eigenem Auth-Server</a:t>
            </a:r>
          </a:p>
        </p:txBody>
      </p:sp>
      <p:sp>
        <p:nvSpPr>
          <p:cNvPr id="10" name="Oval 9"/>
          <p:cNvSpPr/>
          <p:nvPr/>
        </p:nvSpPr>
        <p:spPr>
          <a:xfrm>
            <a:off x="914400" y="3537712"/>
            <a:ext cx="164592" cy="164592"/>
          </a:xfrm>
          <a:prstGeom prst="ellipse">
            <a:avLst/>
          </a:prstGeom>
          <a:solidFill>
            <a:srgbClr val="C77D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1188720" y="3520440"/>
            <a:ext cx="466344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400" b="0" i="0">
                <a:solidFill>
                  <a:srgbClr val="FFFFFF"/>
                </a:solidFill>
                <a:latin typeface="Calibri"/>
              </a:rPr>
              <a:t>Lazy-Loading aller Routen → kleines Initial-Bundle</a:t>
            </a:r>
          </a:p>
        </p:txBody>
      </p:sp>
      <p:sp>
        <p:nvSpPr>
          <p:cNvPr id="12" name="Oval 11"/>
          <p:cNvSpPr/>
          <p:nvPr/>
        </p:nvSpPr>
        <p:spPr>
          <a:xfrm>
            <a:off x="914400" y="4040632"/>
            <a:ext cx="164592" cy="164592"/>
          </a:xfrm>
          <a:prstGeom prst="ellipse">
            <a:avLst/>
          </a:prstGeom>
          <a:solidFill>
            <a:srgbClr val="C77D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1188720" y="4023360"/>
            <a:ext cx="466344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400" b="0" i="0">
                <a:solidFill>
                  <a:srgbClr val="FFFFFF"/>
                </a:solidFill>
                <a:latin typeface="Calibri"/>
              </a:rPr>
              <a:t>Realtime-Voting via Supabase Realtime</a:t>
            </a:r>
          </a:p>
        </p:txBody>
      </p:sp>
      <p:sp>
        <p:nvSpPr>
          <p:cNvPr id="14" name="Oval 13"/>
          <p:cNvSpPr/>
          <p:nvPr/>
        </p:nvSpPr>
        <p:spPr>
          <a:xfrm>
            <a:off x="914400" y="4543552"/>
            <a:ext cx="164592" cy="164592"/>
          </a:xfrm>
          <a:prstGeom prst="ellipse">
            <a:avLst/>
          </a:prstGeom>
          <a:solidFill>
            <a:srgbClr val="C77D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TextBox 14"/>
          <p:cNvSpPr txBox="1"/>
          <p:nvPr/>
        </p:nvSpPr>
        <p:spPr>
          <a:xfrm>
            <a:off x="1188720" y="4526280"/>
            <a:ext cx="4663440" cy="2154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400" b="0" i="0" dirty="0">
                <a:solidFill>
                  <a:srgbClr val="FFFFFF"/>
                </a:solidFill>
                <a:latin typeface="Calibri"/>
              </a:rPr>
              <a:t>Bun-Bot</a:t>
            </a:r>
          </a:p>
        </p:txBody>
      </p:sp>
      <p:sp>
        <p:nvSpPr>
          <p:cNvPr id="16" name="Oval 15"/>
          <p:cNvSpPr/>
          <p:nvPr/>
        </p:nvSpPr>
        <p:spPr>
          <a:xfrm>
            <a:off x="914400" y="5046472"/>
            <a:ext cx="164592" cy="164592"/>
          </a:xfrm>
          <a:prstGeom prst="ellipse">
            <a:avLst/>
          </a:prstGeom>
          <a:solidFill>
            <a:srgbClr val="C77D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TextBox 16"/>
          <p:cNvSpPr txBox="1"/>
          <p:nvPr/>
        </p:nvSpPr>
        <p:spPr>
          <a:xfrm>
            <a:off x="1188720" y="5029200"/>
            <a:ext cx="466344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400" b="0" i="0">
                <a:solidFill>
                  <a:srgbClr val="FFFFFF"/>
                </a:solidFill>
                <a:latin typeface="Calibri"/>
              </a:rPr>
              <a:t>pg_net + pg_cron triggern Discord direkt aus DB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217920" y="2286000"/>
            <a:ext cx="5394960" cy="4023360"/>
          </a:xfrm>
          <a:prstGeom prst="roundRect">
            <a:avLst>
              <a:gd name="adj" fmla="val 5000"/>
            </a:avLst>
          </a:prstGeom>
          <a:solidFill>
            <a:srgbClr val="291E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TextBox 18"/>
          <p:cNvSpPr txBox="1"/>
          <p:nvPr/>
        </p:nvSpPr>
        <p:spPr>
          <a:xfrm>
            <a:off x="6492240" y="2468880"/>
            <a:ext cx="493776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2000" b="1" i="0">
                <a:solidFill>
                  <a:srgbClr val="C77DFF"/>
                </a:solidFill>
                <a:latin typeface="Calibri"/>
              </a:rPr>
              <a:t>Challenges</a:t>
            </a:r>
          </a:p>
        </p:txBody>
      </p:sp>
      <p:sp>
        <p:nvSpPr>
          <p:cNvPr id="20" name="Oval 19"/>
          <p:cNvSpPr/>
          <p:nvPr/>
        </p:nvSpPr>
        <p:spPr>
          <a:xfrm>
            <a:off x="6492240" y="3034792"/>
            <a:ext cx="164592" cy="164592"/>
          </a:xfrm>
          <a:prstGeom prst="ellipse">
            <a:avLst/>
          </a:prstGeom>
          <a:solidFill>
            <a:srgbClr val="E539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TextBox 20"/>
          <p:cNvSpPr txBox="1"/>
          <p:nvPr/>
        </p:nvSpPr>
        <p:spPr>
          <a:xfrm>
            <a:off x="6766560" y="3017520"/>
            <a:ext cx="466344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400" b="0" i="0">
                <a:solidFill>
                  <a:srgbClr val="FFFFFF"/>
                </a:solidFill>
                <a:latin typeface="Calibri"/>
              </a:rPr>
              <a:t>Twitch-OAuth — automatischer Token-Refresh</a:t>
            </a:r>
          </a:p>
        </p:txBody>
      </p:sp>
      <p:sp>
        <p:nvSpPr>
          <p:cNvPr id="22" name="Oval 21"/>
          <p:cNvSpPr/>
          <p:nvPr/>
        </p:nvSpPr>
        <p:spPr>
          <a:xfrm>
            <a:off x="6492240" y="3537712"/>
            <a:ext cx="164592" cy="164592"/>
          </a:xfrm>
          <a:prstGeom prst="ellipse">
            <a:avLst/>
          </a:prstGeom>
          <a:solidFill>
            <a:srgbClr val="E539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3" name="TextBox 22"/>
          <p:cNvSpPr txBox="1"/>
          <p:nvPr/>
        </p:nvSpPr>
        <p:spPr>
          <a:xfrm>
            <a:off x="6766560" y="3520440"/>
            <a:ext cx="466344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400" b="0" i="0">
                <a:solidFill>
                  <a:srgbClr val="FFFFFF"/>
                </a:solidFill>
                <a:latin typeface="Calibri"/>
              </a:rPr>
              <a:t>Voting-Logik: Monats- vs. Jahresrunden</a:t>
            </a:r>
          </a:p>
        </p:txBody>
      </p:sp>
      <p:sp>
        <p:nvSpPr>
          <p:cNvPr id="24" name="Oval 23"/>
          <p:cNvSpPr/>
          <p:nvPr/>
        </p:nvSpPr>
        <p:spPr>
          <a:xfrm>
            <a:off x="6492240" y="4040632"/>
            <a:ext cx="164592" cy="164592"/>
          </a:xfrm>
          <a:prstGeom prst="ellipse">
            <a:avLst/>
          </a:prstGeom>
          <a:solidFill>
            <a:srgbClr val="E539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5" name="TextBox 24"/>
          <p:cNvSpPr txBox="1"/>
          <p:nvPr/>
        </p:nvSpPr>
        <p:spPr>
          <a:xfrm>
            <a:off x="6766560" y="4023360"/>
            <a:ext cx="466344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400" b="0" i="0">
                <a:solidFill>
                  <a:srgbClr val="FFFFFF"/>
                </a:solidFill>
                <a:latin typeface="Calibri"/>
              </a:rPr>
              <a:t>Konsistenz Frontend ↔ DB-Policies</a:t>
            </a:r>
          </a:p>
        </p:txBody>
      </p:sp>
      <p:sp>
        <p:nvSpPr>
          <p:cNvPr id="26" name="Oval 25"/>
          <p:cNvSpPr/>
          <p:nvPr/>
        </p:nvSpPr>
        <p:spPr>
          <a:xfrm>
            <a:off x="6492240" y="4543552"/>
            <a:ext cx="164592" cy="164592"/>
          </a:xfrm>
          <a:prstGeom prst="ellipse">
            <a:avLst/>
          </a:prstGeom>
          <a:solidFill>
            <a:srgbClr val="E539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7" name="TextBox 26"/>
          <p:cNvSpPr txBox="1"/>
          <p:nvPr/>
        </p:nvSpPr>
        <p:spPr>
          <a:xfrm>
            <a:off x="6766560" y="4526280"/>
            <a:ext cx="466344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400" b="0" i="0">
                <a:solidFill>
                  <a:srgbClr val="FFFFFF"/>
                </a:solidFill>
                <a:latin typeface="Calibri"/>
              </a:rPr>
              <a:t>Konfigurierbarkeit (jede URL in siteConfig.ts)</a:t>
            </a:r>
          </a:p>
        </p:txBody>
      </p:sp>
      <p:sp>
        <p:nvSpPr>
          <p:cNvPr id="28" name="Oval 27"/>
          <p:cNvSpPr/>
          <p:nvPr/>
        </p:nvSpPr>
        <p:spPr>
          <a:xfrm>
            <a:off x="6492240" y="5046472"/>
            <a:ext cx="164592" cy="164592"/>
          </a:xfrm>
          <a:prstGeom prst="ellipse">
            <a:avLst/>
          </a:prstGeom>
          <a:solidFill>
            <a:srgbClr val="E539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9" name="TextBox 28"/>
          <p:cNvSpPr txBox="1"/>
          <p:nvPr/>
        </p:nvSpPr>
        <p:spPr>
          <a:xfrm>
            <a:off x="6766560" y="5029200"/>
            <a:ext cx="466344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400" b="0" i="0">
                <a:solidFill>
                  <a:srgbClr val="FFFFFF"/>
                </a:solidFill>
                <a:latin typeface="Calibri"/>
              </a:rPr>
              <a:t>Tests: Unit + Mutation (Stryker)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1338560" y="6446520"/>
            <a:ext cx="73152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/>
            <a:r>
              <a:rPr sz="1000" b="0" i="0">
                <a:solidFill>
                  <a:srgbClr val="B6A8D3"/>
                </a:solidFill>
                <a:latin typeface="Calibri"/>
              </a:rPr>
              <a:t>8 / 9</a:t>
            </a:r>
          </a:p>
        </p:txBody>
      </p:sp>
    </p:spTree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F16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Oval 2"/>
          <p:cNvSpPr/>
          <p:nvPr/>
        </p:nvSpPr>
        <p:spPr>
          <a:xfrm>
            <a:off x="-2377440" y="3657600"/>
            <a:ext cx="5669280" cy="5669280"/>
          </a:xfrm>
          <a:prstGeom prst="ellipse">
            <a:avLst/>
          </a:prstGeom>
          <a:solidFill>
            <a:srgbClr val="9D4ED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Oval 3"/>
          <p:cNvSpPr/>
          <p:nvPr/>
        </p:nvSpPr>
        <p:spPr>
          <a:xfrm>
            <a:off x="-1463040" y="4572000"/>
            <a:ext cx="3840480" cy="3840480"/>
          </a:xfrm>
          <a:prstGeom prst="ellipse">
            <a:avLst/>
          </a:prstGeom>
          <a:solidFill>
            <a:srgbClr val="140E2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640080" y="548640"/>
            <a:ext cx="548640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200" b="1" i="0">
                <a:solidFill>
                  <a:srgbClr val="C77DFF"/>
                </a:solidFill>
                <a:latin typeface="Calibri"/>
              </a:rPr>
              <a:t>04  ·  FAZIT &amp; FRAGEN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114800" y="1371600"/>
            <a:ext cx="7589520" cy="110799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7200" b="1" i="0" dirty="0" err="1">
                <a:solidFill>
                  <a:srgbClr val="FFFFFF"/>
                </a:solidFill>
                <a:latin typeface="Calibri"/>
              </a:rPr>
              <a:t>Fazit</a:t>
            </a:r>
            <a:endParaRPr sz="7200" b="1" i="0" dirty="0">
              <a:solidFill>
                <a:srgbClr val="FFFFFF"/>
              </a:solidFill>
              <a:latin typeface="Calibri"/>
            </a:endParaRPr>
          </a:p>
        </p:txBody>
      </p:sp>
      <p:sp>
        <p:nvSpPr>
          <p:cNvPr id="7" name="TextBox 6"/>
          <p:cNvSpPr txBox="1"/>
          <p:nvPr/>
        </p:nvSpPr>
        <p:spPr>
          <a:xfrm>
            <a:off x="4114800" y="2743200"/>
            <a:ext cx="7589520" cy="5486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2000" b="0" i="1">
                <a:solidFill>
                  <a:srgbClr val="C77DFF"/>
                </a:solidFill>
                <a:latin typeface="Calibri"/>
              </a:rPr>
              <a:t>Vielen Dank — Fragen, Feedback, Ideen?</a:t>
            </a:r>
          </a:p>
        </p:txBody>
      </p:sp>
      <p:sp>
        <p:nvSpPr>
          <p:cNvPr id="8" name="Oval 7"/>
          <p:cNvSpPr/>
          <p:nvPr/>
        </p:nvSpPr>
        <p:spPr>
          <a:xfrm>
            <a:off x="4114800" y="3678428"/>
            <a:ext cx="201168" cy="201168"/>
          </a:xfrm>
          <a:prstGeom prst="ellipse">
            <a:avLst/>
          </a:prstGeom>
          <a:solidFill>
            <a:srgbClr val="C77D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4434840" y="3657600"/>
            <a:ext cx="704088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500" b="1" i="0">
                <a:solidFill>
                  <a:srgbClr val="FFFFFF"/>
                </a:solidFill>
                <a:latin typeface="Calibri"/>
              </a:rPr>
              <a:t>Baukasten-Kern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434840" y="4023360"/>
            <a:ext cx="704088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200" b="0" i="1">
                <a:solidFill>
                  <a:srgbClr val="B6A8D3"/>
                </a:solidFill>
                <a:latin typeface="Calibri"/>
              </a:rPr>
              <a:t>Zwei Configs (siteConfig.ts + i18n) ersetzen jeden Code-Eingriff.</a:t>
            </a:r>
          </a:p>
        </p:txBody>
      </p:sp>
      <p:sp>
        <p:nvSpPr>
          <p:cNvPr id="11" name="Oval 10"/>
          <p:cNvSpPr/>
          <p:nvPr/>
        </p:nvSpPr>
        <p:spPr>
          <a:xfrm>
            <a:off x="4114800" y="4391660"/>
            <a:ext cx="201168" cy="201168"/>
          </a:xfrm>
          <a:prstGeom prst="ellipse">
            <a:avLst/>
          </a:prstGeom>
          <a:solidFill>
            <a:srgbClr val="C77D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4434840" y="4370832"/>
            <a:ext cx="704088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500" b="1" i="0">
                <a:solidFill>
                  <a:srgbClr val="FFFFFF"/>
                </a:solidFill>
                <a:latin typeface="Calibri"/>
              </a:rPr>
              <a:t>Stack arbeitet mit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434840" y="4736592"/>
            <a:ext cx="704088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200" b="0" i="1">
                <a:solidFill>
                  <a:srgbClr val="B6A8D3"/>
                </a:solidFill>
                <a:latin typeface="Calibri"/>
              </a:rPr>
              <a:t>Supabase + RLS, Bun-Bot mit ~64 MB, GitHub Actions für alles andere.</a:t>
            </a:r>
          </a:p>
        </p:txBody>
      </p:sp>
      <p:sp>
        <p:nvSpPr>
          <p:cNvPr id="14" name="Oval 13"/>
          <p:cNvSpPr/>
          <p:nvPr/>
        </p:nvSpPr>
        <p:spPr>
          <a:xfrm>
            <a:off x="4114800" y="5104892"/>
            <a:ext cx="201168" cy="201168"/>
          </a:xfrm>
          <a:prstGeom prst="ellipse">
            <a:avLst/>
          </a:prstGeom>
          <a:solidFill>
            <a:srgbClr val="C77D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TextBox 14"/>
          <p:cNvSpPr txBox="1"/>
          <p:nvPr/>
        </p:nvSpPr>
        <p:spPr>
          <a:xfrm>
            <a:off x="4434840" y="5084064"/>
            <a:ext cx="704088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500" b="1" i="0">
                <a:solidFill>
                  <a:srgbClr val="FFFFFF"/>
                </a:solidFill>
                <a:latin typeface="Calibri"/>
              </a:rPr>
              <a:t>Skalierbar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434840" y="5449824"/>
            <a:ext cx="7040880" cy="18466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200" b="0" i="1" dirty="0" err="1">
                <a:solidFill>
                  <a:srgbClr val="B6A8D3"/>
                </a:solidFill>
                <a:latin typeface="Calibri"/>
              </a:rPr>
              <a:t>Neuer</a:t>
            </a:r>
            <a:r>
              <a:rPr sz="1200" b="0" i="1" dirty="0">
                <a:solidFill>
                  <a:srgbClr val="B6A8D3"/>
                </a:solidFill>
                <a:latin typeface="Calibri"/>
              </a:rPr>
              <a:t> Streamer</a:t>
            </a:r>
            <a:r>
              <a:rPr lang="de-DE" sz="1200" b="0" i="1" dirty="0">
                <a:solidFill>
                  <a:srgbClr val="B6A8D3"/>
                </a:solidFill>
                <a:latin typeface="Calibri"/>
              </a:rPr>
              <a:t>: künftig</a:t>
            </a:r>
            <a:r>
              <a:rPr sz="1200" b="0" i="1" dirty="0">
                <a:solidFill>
                  <a:srgbClr val="B6A8D3"/>
                </a:solidFill>
                <a:latin typeface="Calibri"/>
              </a:rPr>
              <a:t> setup.exe </a:t>
            </a:r>
            <a:r>
              <a:rPr sz="1200" b="0" i="1" dirty="0" err="1">
                <a:solidFill>
                  <a:srgbClr val="B6A8D3"/>
                </a:solidFill>
                <a:latin typeface="Calibri"/>
              </a:rPr>
              <a:t>ausführen</a:t>
            </a:r>
            <a:r>
              <a:rPr sz="1200" b="0" i="1" dirty="0">
                <a:solidFill>
                  <a:srgbClr val="B6A8D3"/>
                </a:solidFill>
                <a:latin typeface="Calibri"/>
              </a:rPr>
              <a:t>, </a:t>
            </a:r>
            <a:r>
              <a:rPr sz="1200" b="0" i="1" dirty="0" err="1">
                <a:solidFill>
                  <a:srgbClr val="B6A8D3"/>
                </a:solidFill>
                <a:latin typeface="Calibri"/>
              </a:rPr>
              <a:t>nicht</a:t>
            </a:r>
            <a:r>
              <a:rPr sz="1200" b="0" i="1" dirty="0">
                <a:solidFill>
                  <a:srgbClr val="B6A8D3"/>
                </a:solidFill>
                <a:latin typeface="Calibri"/>
              </a:rPr>
              <a:t> den </a:t>
            </a:r>
            <a:r>
              <a:rPr sz="1200" b="0" i="1" dirty="0" err="1">
                <a:solidFill>
                  <a:srgbClr val="B6A8D3"/>
                </a:solidFill>
                <a:latin typeface="Calibri"/>
              </a:rPr>
              <a:t>Quellcode</a:t>
            </a:r>
            <a:r>
              <a:rPr sz="1200" b="0" i="1" dirty="0">
                <a:solidFill>
                  <a:srgbClr val="B6A8D3"/>
                </a:solidFill>
                <a:latin typeface="Calibri"/>
              </a:rPr>
              <a:t> </a:t>
            </a:r>
            <a:r>
              <a:rPr sz="1200" b="0" i="1" dirty="0" err="1">
                <a:solidFill>
                  <a:srgbClr val="B6A8D3"/>
                </a:solidFill>
                <a:latin typeface="Calibri"/>
              </a:rPr>
              <a:t>forken</a:t>
            </a:r>
            <a:r>
              <a:rPr sz="1200" b="0" i="1" dirty="0">
                <a:solidFill>
                  <a:srgbClr val="B6A8D3"/>
                </a:solidFill>
                <a:latin typeface="Calibri"/>
              </a:rPr>
              <a:t>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114800" y="6446520"/>
            <a:ext cx="7498079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100" b="0" i="0" dirty="0">
                <a:solidFill>
                  <a:srgbClr val="B6A8D3"/>
                </a:solidFill>
                <a:latin typeface="Calibri"/>
              </a:rPr>
              <a:t>github.com/HD1920x1080Media   ·   www.hd1920x1080.de</a:t>
            </a:r>
          </a:p>
        </p:txBody>
      </p:sp>
    </p:spTree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550</Words>
  <Application>Microsoft Office PowerPoint</Application>
  <PresentationFormat>Breitbild</PresentationFormat>
  <Paragraphs>120</Paragraphs>
  <Slides>9</Slides>
  <Notes>1</Notes>
  <HiddenSlides>0</HiddenSlides>
  <MMClips>0</MMClips>
  <ScaleCrop>false</ScaleCrop>
  <HeadingPairs>
    <vt:vector size="6" baseType="variant">
      <vt:variant>
        <vt:lpstr>Verwendete Schriftarten</vt:lpstr>
      </vt:variant>
      <vt:variant>
        <vt:i4>2</vt:i4>
      </vt:variant>
      <vt:variant>
        <vt:lpstr>Design</vt:lpstr>
      </vt:variant>
      <vt:variant>
        <vt:i4>1</vt:i4>
      </vt:variant>
      <vt:variant>
        <vt:lpstr>Folientitel</vt:lpstr>
      </vt:variant>
      <vt:variant>
        <vt:i4>9</vt:i4>
      </vt:variant>
    </vt:vector>
  </HeadingPairs>
  <TitlesOfParts>
    <vt:vector size="12" baseType="lpstr">
      <vt:lpstr>Arial</vt:lpstr>
      <vt:lpstr>Calibri</vt:lpstr>
      <vt:lpstr>Office Theme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PowerPoint-Präsentation</dc:title>
  <dc:subject/>
  <dc:creator>Robin</dc:creator>
  <cp:keywords/>
  <dc:description>generated using python-pptx</dc:description>
  <cp:lastModifiedBy>Robin</cp:lastModifiedBy>
  <cp:revision>15</cp:revision>
  <dcterms:created xsi:type="dcterms:W3CDTF">2013-01-27T09:14:16Z</dcterms:created>
  <dcterms:modified xsi:type="dcterms:W3CDTF">2026-06-11T18:20:42Z</dcterms:modified>
  <cp:category/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MSIP_Label_6d7ee6ba-6ca1-4e29-92e0-fe5594b8f607_Enabled">
    <vt:lpwstr>true</vt:lpwstr>
  </property>
  <property fmtid="{D5CDD505-2E9C-101B-9397-08002B2CF9AE}" pid="3" name="MSIP_Label_6d7ee6ba-6ca1-4e29-92e0-fe5594b8f607_SetDate">
    <vt:lpwstr>2026-05-11T07:17:40Z</vt:lpwstr>
  </property>
  <property fmtid="{D5CDD505-2E9C-101B-9397-08002B2CF9AE}" pid="4" name="MSIP_Label_6d7ee6ba-6ca1-4e29-92e0-fe5594b8f607_Method">
    <vt:lpwstr>Privileged</vt:lpwstr>
  </property>
  <property fmtid="{D5CDD505-2E9C-101B-9397-08002B2CF9AE}" pid="5" name="MSIP_Label_6d7ee6ba-6ca1-4e29-92e0-fe5594b8f607_Name">
    <vt:lpwstr>OFFEN_ohne_Label_Sublabel</vt:lpwstr>
  </property>
  <property fmtid="{D5CDD505-2E9C-101B-9397-08002B2CF9AE}" pid="6" name="MSIP_Label_6d7ee6ba-6ca1-4e29-92e0-fe5594b8f607_SiteId">
    <vt:lpwstr>396b38cc-aa65-492b-bb0e-3d94ed25a97b</vt:lpwstr>
  </property>
  <property fmtid="{D5CDD505-2E9C-101B-9397-08002B2CF9AE}" pid="7" name="MSIP_Label_6d7ee6ba-6ca1-4e29-92e0-fe5594b8f607_ActionId">
    <vt:lpwstr>7606be49-231a-4297-9d66-d9d5288f3d4d</vt:lpwstr>
  </property>
  <property fmtid="{D5CDD505-2E9C-101B-9397-08002B2CF9AE}" pid="8" name="MSIP_Label_6d7ee6ba-6ca1-4e29-92e0-fe5594b8f607_ContentBits">
    <vt:lpwstr>0</vt:lpwstr>
  </property>
  <property fmtid="{D5CDD505-2E9C-101B-9397-08002B2CF9AE}" pid="9" name="MSIP_Label_6d7ee6ba-6ca1-4e29-92e0-fe5594b8f607_Tag">
    <vt:lpwstr>10, 0, 1, 1</vt:lpwstr>
  </property>
</Properties>
</file>